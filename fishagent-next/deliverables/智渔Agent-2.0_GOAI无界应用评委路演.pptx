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A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744968" y="1234440"/>
            <a:ext cx="64008" cy="64008"/>
          </a:xfrm>
          <a:prstGeom prst="ellipse">
            <a:avLst/>
          </a:prstGeom>
          <a:solidFill>
            <a:srgbClr val="26C6E6"/>
          </a:solidFill>
          <a:ln w="10160">
            <a:solidFill>
              <a:srgbClr val="26C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862364" y="1636776"/>
            <a:ext cx="137160" cy="137160"/>
          </a:xfrm>
          <a:prstGeom prst="ellipse">
            <a:avLst/>
          </a:prstGeom>
          <a:solidFill>
            <a:srgbClr val="41D19A"/>
          </a:solidFill>
          <a:ln w="10160">
            <a:solidFill>
              <a:srgbClr val="41D1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37622" y="882396"/>
            <a:ext cx="73152" cy="73152"/>
          </a:xfrm>
          <a:prstGeom prst="ellipse">
            <a:avLst/>
          </a:prstGeom>
          <a:solidFill>
            <a:srgbClr val="FFD13D"/>
          </a:solidFill>
          <a:ln w="10160">
            <a:solidFill>
              <a:srgbClr val="FFD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839297" y="1536192"/>
            <a:ext cx="182880" cy="182880"/>
          </a:xfrm>
          <a:prstGeom prst="ellipse">
            <a:avLst/>
          </a:prstGeom>
          <a:solidFill>
            <a:srgbClr val="FF6B5E"/>
          </a:solidFill>
          <a:ln w="10160">
            <a:solidFill>
              <a:srgbClr val="FF6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02828" y="2843784"/>
            <a:ext cx="182880" cy="182880"/>
          </a:xfrm>
          <a:prstGeom prst="ellipse">
            <a:avLst/>
          </a:prstGeom>
          <a:solidFill>
            <a:srgbClr val="7255E8"/>
          </a:solidFill>
          <a:ln w="10160">
            <a:solidFill>
              <a:srgbClr val="725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378086" y="2743200"/>
            <a:ext cx="100584" cy="100584"/>
          </a:xfrm>
          <a:prstGeom prst="ellipse">
            <a:avLst/>
          </a:prstGeom>
          <a:solidFill>
            <a:srgbClr val="0B66C3"/>
          </a:solidFill>
          <a:ln w="10160">
            <a:solidFill>
              <a:srgbClr val="0B66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581436" y="2642615"/>
            <a:ext cx="128016" cy="128016"/>
          </a:xfrm>
          <a:prstGeom prst="ellipse">
            <a:avLst/>
          </a:prstGeom>
          <a:solidFill>
            <a:srgbClr val="26C6E6"/>
          </a:solidFill>
          <a:ln w="10160">
            <a:solidFill>
              <a:srgbClr val="26C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097158" y="3447288"/>
            <a:ext cx="73152" cy="73152"/>
          </a:xfrm>
          <a:prstGeom prst="ellipse">
            <a:avLst/>
          </a:prstGeom>
          <a:solidFill>
            <a:srgbClr val="41D19A"/>
          </a:solidFill>
          <a:ln w="10160">
            <a:solidFill>
              <a:srgbClr val="41D1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518550" y="4151376"/>
            <a:ext cx="82296" cy="82296"/>
          </a:xfrm>
          <a:prstGeom prst="ellipse">
            <a:avLst/>
          </a:prstGeom>
          <a:solidFill>
            <a:srgbClr val="FFD13D"/>
          </a:solidFill>
          <a:ln w="10160">
            <a:solidFill>
              <a:srgbClr val="FFD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678924" y="4352544"/>
            <a:ext cx="201168" cy="201168"/>
          </a:xfrm>
          <a:prstGeom prst="ellipse">
            <a:avLst/>
          </a:prstGeom>
          <a:solidFill>
            <a:srgbClr val="FF6B5E"/>
          </a:solidFill>
          <a:ln w="10160">
            <a:solidFill>
              <a:srgbClr val="FF6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667390" y="4453128"/>
            <a:ext cx="91440" cy="91440"/>
          </a:xfrm>
          <a:prstGeom prst="ellipse">
            <a:avLst/>
          </a:prstGeom>
          <a:solidFill>
            <a:srgbClr val="7255E8"/>
          </a:solidFill>
          <a:ln w="10160">
            <a:solidFill>
              <a:srgbClr val="725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830921" y="5157216"/>
            <a:ext cx="146304" cy="146304"/>
          </a:xfrm>
          <a:prstGeom prst="ellipse">
            <a:avLst/>
          </a:prstGeom>
          <a:solidFill>
            <a:srgbClr val="0B66C3"/>
          </a:solidFill>
          <a:ln w="10160">
            <a:solidFill>
              <a:srgbClr val="0B66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goai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8360" y="320040"/>
            <a:ext cx="1325880" cy="44805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58368" y="566928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D13D"/>
                </a:solidFill>
                <a:latin typeface="Noto Sans CJK SC"/>
              </a:rPr>
              <a:t>GOAI 无界应用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1234440"/>
            <a:ext cx="6766560" cy="768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Noto Sans CJK SC"/>
              </a:rPr>
              <a:t>智渔Agent 2.0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2103120"/>
            <a:ext cx="63093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26C6E6"/>
                </a:solidFill>
                <a:latin typeface="Noto Sans CJK SC"/>
              </a:rPr>
              <a:t>面向水产养殖的可验证闭环 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" y="2788920"/>
            <a:ext cx="60350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D4E5F7"/>
                </a:solidFill>
                <a:latin typeface="Noto Sans CJK SC"/>
              </a:rPr>
              <a:t>把感知变成决策，把决策变成动作，把动作变成可验证结果。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6656" y="3703320"/>
            <a:ext cx="1965960" cy="292608"/>
          </a:xfrm>
          <a:prstGeom prst="roundRect">
            <a:avLst>
              <a:gd name="adj" fmla="val 12000"/>
            </a:avLst>
          </a:prstGeom>
          <a:solidFill>
            <a:srgbClr val="0B66C3"/>
          </a:solidFill>
          <a:ln w="10160">
            <a:solidFill>
              <a:srgbClr val="0B66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" y="3735324"/>
            <a:ext cx="196596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Noto Sans CJK SC"/>
              </a:rPr>
              <a:t>Boundless Agents 赛道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61488" y="3703320"/>
            <a:ext cx="1417320" cy="292608"/>
          </a:xfrm>
          <a:prstGeom prst="roundRect">
            <a:avLst>
              <a:gd name="adj" fmla="val 12000"/>
            </a:avLst>
          </a:prstGeom>
          <a:solidFill>
            <a:srgbClr val="41D19A"/>
          </a:solidFill>
          <a:ln w="10160">
            <a:solidFill>
              <a:srgbClr val="41D1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61488" y="3735324"/>
            <a:ext cx="141732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 i="0">
                <a:solidFill>
                  <a:srgbClr val="0B2A56"/>
                </a:solidFill>
                <a:latin typeface="Noto Sans CJK SC"/>
              </a:rPr>
              <a:t>真实行业场景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15968" y="3703320"/>
            <a:ext cx="1234440" cy="292608"/>
          </a:xfrm>
          <a:prstGeom prst="roundRect">
            <a:avLst>
              <a:gd name="adj" fmla="val 12000"/>
            </a:avLst>
          </a:prstGeom>
          <a:solidFill>
            <a:srgbClr val="FFD13D"/>
          </a:solidFill>
          <a:ln w="10160">
            <a:solidFill>
              <a:srgbClr val="FFD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15968" y="3735324"/>
            <a:ext cx="123444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 i="0">
                <a:solidFill>
                  <a:srgbClr val="0B2A56"/>
                </a:solidFill>
                <a:latin typeface="Noto Sans CJK SC"/>
              </a:rPr>
              <a:t>可运行 Demo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4754880"/>
            <a:ext cx="5120640" cy="868680"/>
          </a:xfrm>
          <a:prstGeom prst="roundRect">
            <a:avLst>
              <a:gd name="adj" fmla="val 12000"/>
            </a:avLst>
          </a:prstGeom>
          <a:solidFill>
            <a:srgbClr val="143A6B"/>
          </a:solidFill>
          <a:ln w="10160">
            <a:solidFill>
              <a:srgbClr val="2C6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4956048"/>
            <a:ext cx="470916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Noto Sans CJK SC"/>
              </a:rPr>
              <a:t>参赛团队：__________   成员：__________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5285232"/>
            <a:ext cx="420624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8CAE0"/>
                </a:solidFill>
                <a:latin typeface="Noto Sans CJK SC"/>
              </a:rPr>
              <a:t>决赛路演版 ·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0" y="5897880"/>
            <a:ext cx="4069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 i="0">
                <a:solidFill>
                  <a:srgbClr val="FFFFFF"/>
                </a:solidFill>
                <a:latin typeface="Noto Sans CJK SC"/>
              </a:rPr>
              <a:t>评委先看闭环，再看技术。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0" y="6236208"/>
            <a:ext cx="4069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FFD13D"/>
                </a:solidFill>
                <a:latin typeface="Noto Sans CJK SC"/>
              </a:rPr>
              <a:t>可运行 · 可演示 · 可复制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4023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0B66C3"/>
                </a:solidFill>
                <a:latin typeface="Noto Sans CJK SC"/>
              </a:rPr>
              <a:t>GOAI  /  BOUNDLESS AGENTS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5120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7255E8"/>
                </a:solidFill>
                <a:latin typeface="Noto Sans CJK SC"/>
              </a:rPr>
              <a:t>01 / 项目定位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14233B"/>
                </a:solidFill>
                <a:latin typeface="Noto Sans CJK SC"/>
              </a:rPr>
              <a:t>先给评委一个可验证的答案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65392"/>
            <a:ext cx="110642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5D6B80"/>
                </a:solidFill>
                <a:latin typeface="Noto Sans CJK SC"/>
              </a:rPr>
              <a:t>智渔Agent 2.0  /  GOAI Boundless Agents                                     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645920"/>
            <a:ext cx="10972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4233B"/>
                </a:solidFill>
                <a:latin typeface="Noto Sans CJK SC"/>
              </a:rPr>
              <a:t>智渔Agent不是把聊天框接到传感器上，而是把养殖异常变成一条可追溯、可复核、可交接的任务链。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2240280"/>
            <a:ext cx="205740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" y="2240280"/>
            <a:ext cx="54864" cy="960120"/>
          </a:xfrm>
          <a:prstGeom prst="rect">
            <a:avLst/>
          </a:prstGeom>
          <a:solidFill>
            <a:srgbClr val="0B66C3"/>
          </a:solidFill>
          <a:ln w="10160">
            <a:solidFill>
              <a:srgbClr val="0B66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2386584"/>
            <a:ext cx="1783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0B66C3"/>
                </a:solidFill>
                <a:latin typeface="Noto Sans CJK SC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2761488"/>
            <a:ext cx="1783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4233B"/>
                </a:solidFill>
                <a:latin typeface="Noto Sans CJK SC"/>
              </a:rPr>
              <a:t>养殖池塘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962656"/>
            <a:ext cx="17830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5D6B80"/>
                </a:solidFill>
                <a:latin typeface="Noto Sans CJK SC"/>
              </a:rPr>
              <a:t>B-01 至 B-04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07208" y="2240280"/>
            <a:ext cx="205740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807208" y="2240280"/>
            <a:ext cx="54864" cy="960120"/>
          </a:xfrm>
          <a:prstGeom prst="rect">
            <a:avLst/>
          </a:prstGeom>
          <a:solidFill>
            <a:srgbClr val="41D19A"/>
          </a:solidFill>
          <a:ln w="10160">
            <a:solidFill>
              <a:srgbClr val="41D1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71800" y="2386584"/>
            <a:ext cx="1783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41D19A"/>
                </a:solidFill>
                <a:latin typeface="Noto Sans CJK SC"/>
              </a:rPr>
              <a:t>28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71800" y="2761488"/>
            <a:ext cx="1783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4233B"/>
                </a:solidFill>
                <a:latin typeface="Noto Sans CJK SC"/>
              </a:rPr>
              <a:t>模拟设备总数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71800" y="2962656"/>
            <a:ext cx="17830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5D6B80"/>
                </a:solidFill>
                <a:latin typeface="Noto Sans CJK SC"/>
              </a:rPr>
              <a:t>27 在线 / 1 离线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92624" y="2240280"/>
            <a:ext cx="205740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992624" y="2240280"/>
            <a:ext cx="54864" cy="960120"/>
          </a:xfrm>
          <a:prstGeom prst="rect">
            <a:avLst/>
          </a:prstGeom>
          <a:solidFill>
            <a:srgbClr val="7255E8"/>
          </a:solidFill>
          <a:ln w="10160">
            <a:solidFill>
              <a:srgbClr val="725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57216" y="2386584"/>
            <a:ext cx="1783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7255E8"/>
                </a:solidFill>
                <a:latin typeface="Noto Sans CJK SC"/>
              </a:rPr>
              <a:t>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57216" y="2761488"/>
            <a:ext cx="1783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4233B"/>
                </a:solidFill>
                <a:latin typeface="Noto Sans CJK SC"/>
              </a:rPr>
              <a:t>核心传感器指标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57216" y="2962656"/>
            <a:ext cx="17830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5D6B80"/>
                </a:solidFill>
                <a:latin typeface="Noto Sans CJK SC"/>
              </a:rPr>
              <a:t>水质全量巡检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78040" y="2240280"/>
            <a:ext cx="205740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78040" y="2240280"/>
            <a:ext cx="54864" cy="960120"/>
          </a:xfrm>
          <a:prstGeom prst="rect">
            <a:avLst/>
          </a:prstGeom>
          <a:solidFill>
            <a:srgbClr val="FF6B5E"/>
          </a:solidFill>
          <a:ln w="10160">
            <a:solidFill>
              <a:srgbClr val="FF6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42631" y="2386584"/>
            <a:ext cx="1783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FF6B5E"/>
                </a:solidFill>
                <a:latin typeface="Noto Sans CJK SC"/>
              </a:rPr>
              <a:t>MQTT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42631" y="2761488"/>
            <a:ext cx="1783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4233B"/>
                </a:solidFill>
                <a:latin typeface="Noto Sans CJK SC"/>
              </a:rPr>
              <a:t>设备消息总线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42631" y="2962656"/>
            <a:ext cx="17830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5D6B80"/>
                </a:solidFill>
                <a:latin typeface="Noto Sans CJK SC"/>
              </a:rPr>
              <a:t>上报与下发统一走消息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372600" y="2240280"/>
            <a:ext cx="2194560" cy="960120"/>
          </a:xfrm>
          <a:prstGeom prst="roundRect">
            <a:avLst>
              <a:gd name="adj" fmla="val 12000"/>
            </a:avLst>
          </a:prstGeom>
          <a:solidFill>
            <a:srgbClr val="FFF8DF"/>
          </a:solidFill>
          <a:ln w="10160">
            <a:solidFill>
              <a:srgbClr val="FFD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55480" y="2395728"/>
            <a:ext cx="1783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FF6B5E"/>
                </a:solidFill>
                <a:latin typeface="Noto Sans CJK SC"/>
              </a:rPr>
              <a:t>1 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55480" y="2761488"/>
            <a:ext cx="1783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4233B"/>
                </a:solidFill>
                <a:latin typeface="Noto Sans CJK SC"/>
              </a:rPr>
              <a:t>完整任务闭环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55480" y="2971800"/>
            <a:ext cx="17830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30" b="0" i="0">
                <a:solidFill>
                  <a:srgbClr val="5D6B80"/>
                </a:solidFill>
                <a:latin typeface="Noto Sans CJK SC"/>
              </a:rPr>
              <a:t>告警 → 决策 → 执行 → 复核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" y="3566160"/>
            <a:ext cx="4800600" cy="22677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3803904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4233B"/>
                </a:solidFill>
                <a:latin typeface="Noto Sans CJK SC"/>
              </a:rPr>
              <a:t>与 GOAI 赛道定位的交集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7824" y="4224528"/>
            <a:ext cx="4206240" cy="1325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14233B"/>
                </a:solidFill>
                <a:latin typeface="Noto Sans CJK SC"/>
              </a:defRPr>
            </a:pPr>
            <a:r>
              <a:t>·  真实行业：水产养殖异常处置，而非泛问答</a:t>
            </a:r>
          </a:p>
          <a:p>
            <a:pPr>
              <a:spcAft>
                <a:spcPts val="400"/>
              </a:spcAft>
              <a:defRPr sz="1150">
                <a:solidFill>
                  <a:srgbClr val="14233B"/>
                </a:solidFill>
                <a:latin typeface="Noto Sans CJK SC"/>
              </a:defRPr>
            </a:pPr>
            <a:r>
              <a:t>·  多轮交互：聊天、主动巡塘、告警复核相互衔接</a:t>
            </a:r>
          </a:p>
          <a:p>
            <a:pPr>
              <a:spcAft>
                <a:spcPts val="400"/>
              </a:spcAft>
              <a:defRPr sz="1150">
                <a:solidFill>
                  <a:srgbClr val="14233B"/>
                </a:solidFill>
                <a:latin typeface="Noto Sans CJK SC"/>
              </a:defRPr>
            </a:pPr>
            <a:r>
              <a:t>·  工具调用：知识库、天气、MQTT、报告交付</a:t>
            </a:r>
          </a:p>
          <a:p>
            <a:pPr>
              <a:spcAft>
                <a:spcPts val="400"/>
              </a:spcAft>
              <a:defRPr sz="1150">
                <a:solidFill>
                  <a:srgbClr val="14233B"/>
                </a:solidFill>
                <a:latin typeface="Noto Sans CJK SC"/>
              </a:defRPr>
            </a:pPr>
            <a:r>
              <a:t>·  多模态：传感器 + 水面 / 水下图像 + 天气上下文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69280" y="3566160"/>
            <a:ext cx="5897880" cy="22677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25312" y="3803904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4233B"/>
                </a:solidFill>
                <a:latin typeface="Noto Sans CJK SC"/>
              </a:rPr>
              <a:t>按手册 10.1 逐项准备证据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25312" y="4224528"/>
            <a:ext cx="1572768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0" b="1" i="0">
                <a:solidFill>
                  <a:srgbClr val="14233B"/>
                </a:solidFill>
                <a:latin typeface="Noto Sans CJK SC"/>
              </a:rPr>
              <a:t>行业场景价值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52360" y="4224528"/>
            <a:ext cx="438912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0" b="1" i="0">
                <a:solidFill>
                  <a:srgbClr val="0B66C3"/>
                </a:solidFill>
                <a:latin typeface="Noto Sans CJK SC"/>
              </a:rPr>
              <a:t>25%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73568" y="4224528"/>
            <a:ext cx="324612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0" b="0" i="0">
                <a:solidFill>
                  <a:srgbClr val="5D6B80"/>
                </a:solidFill>
                <a:latin typeface="Noto Sans CJK SC"/>
              </a:rPr>
              <a:t>低溶氧、设备离线、人工接管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25312" y="4471416"/>
            <a:ext cx="1572768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0" b="1" i="0">
                <a:solidFill>
                  <a:srgbClr val="14233B"/>
                </a:solidFill>
                <a:latin typeface="Noto Sans CJK SC"/>
              </a:rPr>
              <a:t>Agent 能力与任务闭环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52360" y="4471416"/>
            <a:ext cx="438912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0" b="1" i="0">
                <a:solidFill>
                  <a:srgbClr val="0B66C3"/>
                </a:solidFill>
                <a:latin typeface="Noto Sans CJK SC"/>
              </a:rPr>
              <a:t>25%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73568" y="4471416"/>
            <a:ext cx="324612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0" b="0" i="0">
                <a:solidFill>
                  <a:srgbClr val="5D6B80"/>
                </a:solidFill>
                <a:latin typeface="Noto Sans CJK SC"/>
              </a:rPr>
              <a:t>结构化决策 + Skill + 复核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25312" y="4718304"/>
            <a:ext cx="1572768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0" b="1" i="0">
                <a:solidFill>
                  <a:srgbClr val="14233B"/>
                </a:solidFill>
                <a:latin typeface="Noto Sans CJK SC"/>
              </a:rPr>
              <a:t>产品体验与 Demo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52360" y="4718304"/>
            <a:ext cx="438912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0" b="1" i="0">
                <a:solidFill>
                  <a:srgbClr val="0B66C3"/>
                </a:solidFill>
                <a:latin typeface="Noto Sans CJK SC"/>
              </a:rPr>
              <a:t>20%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973568" y="4718304"/>
            <a:ext cx="324612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0" b="0" i="0">
                <a:solidFill>
                  <a:srgbClr val="5D6B80"/>
                </a:solidFill>
                <a:latin typeface="Noto Sans CJK SC"/>
              </a:rPr>
              <a:t>页面、流式轨迹、告警流程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25312" y="4965192"/>
            <a:ext cx="1572768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0" b="1" i="0">
                <a:solidFill>
                  <a:srgbClr val="14233B"/>
                </a:solidFill>
                <a:latin typeface="Noto Sans CJK SC"/>
              </a:rPr>
              <a:t>技术实现深度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52360" y="4965192"/>
            <a:ext cx="438912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0" b="1" i="0">
                <a:solidFill>
                  <a:srgbClr val="0B66C3"/>
                </a:solidFill>
                <a:latin typeface="Noto Sans CJK SC"/>
              </a:rPr>
              <a:t>15%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973568" y="4965192"/>
            <a:ext cx="324612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0" b="0" i="0">
                <a:solidFill>
                  <a:srgbClr val="5D6B80"/>
                </a:solidFill>
                <a:latin typeface="Noto Sans CJK SC"/>
              </a:rPr>
              <a:t>CrewAI / MQTT / 持久化 / 测试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925312" y="5212080"/>
            <a:ext cx="1572768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0" b="1" i="0">
                <a:solidFill>
                  <a:srgbClr val="14233B"/>
                </a:solidFill>
                <a:latin typeface="Noto Sans CJK SC"/>
              </a:rPr>
              <a:t>安全合规与可追溯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452360" y="5212080"/>
            <a:ext cx="438912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0" b="1" i="0">
                <a:solidFill>
                  <a:srgbClr val="0B66C3"/>
                </a:solidFill>
                <a:latin typeface="Noto Sans CJK SC"/>
              </a:rPr>
              <a:t>10%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973568" y="5212080"/>
            <a:ext cx="324612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0" b="0" i="0">
                <a:solidFill>
                  <a:srgbClr val="5D6B80"/>
                </a:solidFill>
                <a:latin typeface="Noto Sans CJK SC"/>
              </a:rPr>
              <a:t>策略门、人工任务、审计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25312" y="5458968"/>
            <a:ext cx="1572768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0" b="1" i="0">
                <a:solidFill>
                  <a:srgbClr val="14233B"/>
                </a:solidFill>
                <a:latin typeface="Noto Sans CJK SC"/>
              </a:rPr>
              <a:t>开放 / 复用贡献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452360" y="5458968"/>
            <a:ext cx="438912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0" b="1" i="0">
                <a:solidFill>
                  <a:srgbClr val="0B66C3"/>
                </a:solidFill>
                <a:latin typeface="Noto Sans CJK SC"/>
              </a:rPr>
              <a:t>5%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973568" y="5458968"/>
            <a:ext cx="324612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0" b="0" i="0">
                <a:solidFill>
                  <a:srgbClr val="5D6B80"/>
                </a:solidFill>
                <a:latin typeface="Noto Sans CJK SC"/>
              </a:rPr>
              <a:t>代码、文档、模拟数据规格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8640" y="6556248"/>
            <a:ext cx="10698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5D6B80"/>
                </a:solidFill>
                <a:latin typeface="Noto Sans CJK SC"/>
              </a:rPr>
              <a:t>依据：GOAI《无界应用｜Boundless Agents 参赛手册》10.1 通用评审维度；官网：goaihz.com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4023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0B66C3"/>
                </a:solidFill>
                <a:latin typeface="Noto Sans CJK SC"/>
              </a:rPr>
              <a:t>GOAI  /  BOUNDLESS AGENTS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5120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7255E8"/>
                </a:solidFill>
                <a:latin typeface="Noto Sans CJK SC"/>
              </a:rPr>
              <a:t>02 / 行业价值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14233B"/>
                </a:solidFill>
                <a:latin typeface="Noto Sans CJK SC"/>
              </a:rPr>
              <a:t>真实场景：异常处置不是一句建议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65392"/>
            <a:ext cx="110642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5D6B80"/>
                </a:solidFill>
                <a:latin typeface="Noto Sans CJK SC"/>
              </a:rPr>
              <a:t>智渔Agent 2.0  /  GOAI Boundless Agents                                     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627632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4233B"/>
                </a:solidFill>
                <a:latin typeface="Noto Sans CJK SC"/>
              </a:rPr>
              <a:t>对养殖户来说，低溶氧的价值不在于“看见了”，而在于“设备已经动作、风险正在下降、何时停机有依据”。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2286000"/>
            <a:ext cx="3474720" cy="1207008"/>
          </a:xfrm>
          <a:prstGeom prst="roundRect">
            <a:avLst>
              <a:gd name="adj" fmla="val 12000"/>
            </a:avLst>
          </a:prstGeom>
          <a:solidFill>
            <a:srgbClr val="EAF3FF"/>
          </a:solidFill>
          <a:ln w="10160">
            <a:solidFill>
              <a:srgbClr val="0B66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487168"/>
            <a:ext cx="1234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4233B"/>
                </a:solidFill>
                <a:latin typeface="Noto Sans CJK SC"/>
              </a:rPr>
              <a:t>养殖户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20824" y="2505456"/>
            <a:ext cx="18105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0B66C3"/>
                </a:solidFill>
                <a:latin typeface="Noto Sans CJK SC"/>
              </a:rPr>
              <a:t>关心损失与收益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862072"/>
            <a:ext cx="3063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D6B80"/>
                </a:solidFill>
                <a:latin typeface="Noto Sans CJK SC"/>
              </a:rPr>
              <a:t>少死鱼、少误操作、少熬夜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2286000"/>
            <a:ext cx="3474720" cy="1207008"/>
          </a:xfrm>
          <a:prstGeom prst="roundRect">
            <a:avLst>
              <a:gd name="adj" fmla="val 12000"/>
            </a:avLst>
          </a:prstGeom>
          <a:solidFill>
            <a:srgbClr val="EAF9F3"/>
          </a:solidFill>
          <a:ln w="10160">
            <a:solidFill>
              <a:srgbClr val="41D1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7" y="2487168"/>
            <a:ext cx="1234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4233B"/>
                </a:solidFill>
                <a:latin typeface="Noto Sans CJK SC"/>
              </a:rPr>
              <a:t>现场操作员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33872" y="2505456"/>
            <a:ext cx="18105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41D19A"/>
                </a:solidFill>
                <a:latin typeface="Noto Sans CJK SC"/>
              </a:rPr>
              <a:t>关心动作与交接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7" y="2862072"/>
            <a:ext cx="3063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D6B80"/>
                </a:solidFill>
                <a:latin typeface="Noto Sans CJK SC"/>
              </a:rPr>
              <a:t>任务清楚、失败可接管、结果可复核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47888" y="2286000"/>
            <a:ext cx="3474720" cy="1207008"/>
          </a:xfrm>
          <a:prstGeom prst="roundRect">
            <a:avLst>
              <a:gd name="adj" fmla="val 12000"/>
            </a:avLst>
          </a:prstGeom>
          <a:solidFill>
            <a:srgbClr val="FFF8DF"/>
          </a:solidFill>
          <a:ln w="10160">
            <a:solidFill>
              <a:srgbClr val="FFD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49056" y="2487168"/>
            <a:ext cx="1234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4233B"/>
                </a:solidFill>
                <a:latin typeface="Noto Sans CJK SC"/>
              </a:rPr>
              <a:t>管理者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46919" y="2505456"/>
            <a:ext cx="18105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FD13D"/>
                </a:solidFill>
                <a:latin typeface="Noto Sans CJK SC"/>
              </a:rPr>
              <a:t>关心证据与复制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49056" y="2862072"/>
            <a:ext cx="3063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D6B80"/>
                </a:solidFill>
                <a:latin typeface="Noto Sans CJK SC"/>
              </a:rPr>
              <a:t>趋势、审计、报告、跨池塘复用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977639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5D6B80"/>
                </a:solidFill>
                <a:latin typeface="Noto Sans CJK SC"/>
              </a:rPr>
              <a:t>传统流程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828800" y="3840480"/>
            <a:ext cx="1463040" cy="49377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828800" y="3986784"/>
            <a:ext cx="1463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 i="0">
                <a:solidFill>
                  <a:srgbClr val="5D6B80"/>
                </a:solidFill>
                <a:latin typeface="Noto Sans CJK SC"/>
              </a:rPr>
              <a:t>传感器报警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310128" y="4087368"/>
            <a:ext cx="310896" cy="0"/>
          </a:xfrm>
          <a:prstGeom prst="line">
            <a:avLst/>
          </a:prstGeom>
          <a:ln w="19050">
            <a:solidFill>
              <a:srgbClr val="D7E1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3703320" y="3840480"/>
            <a:ext cx="1463040" cy="49377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03320" y="3986784"/>
            <a:ext cx="1463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 i="0">
                <a:solidFill>
                  <a:srgbClr val="5D6B80"/>
                </a:solidFill>
                <a:latin typeface="Noto Sans CJK SC"/>
              </a:rPr>
              <a:t>人工判断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184648" y="4087368"/>
            <a:ext cx="310896" cy="0"/>
          </a:xfrm>
          <a:prstGeom prst="line">
            <a:avLst/>
          </a:prstGeom>
          <a:ln w="19050">
            <a:solidFill>
              <a:srgbClr val="D7E1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5577840" y="3840480"/>
            <a:ext cx="1463040" cy="49377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77840" y="3986784"/>
            <a:ext cx="1463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 i="0">
                <a:solidFill>
                  <a:srgbClr val="5D6B80"/>
                </a:solidFill>
                <a:latin typeface="Noto Sans CJK SC"/>
              </a:rPr>
              <a:t>打电话找人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059168" y="4087368"/>
            <a:ext cx="310895" cy="0"/>
          </a:xfrm>
          <a:prstGeom prst="line">
            <a:avLst/>
          </a:prstGeom>
          <a:ln w="19050">
            <a:solidFill>
              <a:srgbClr val="D7E1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7452359" y="3840480"/>
            <a:ext cx="1463040" cy="49377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52359" y="3986784"/>
            <a:ext cx="1463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 i="0">
                <a:solidFill>
                  <a:srgbClr val="5D6B80"/>
                </a:solidFill>
                <a:latin typeface="Noto Sans CJK SC"/>
              </a:rPr>
              <a:t>打开设备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933688" y="4087368"/>
            <a:ext cx="310896" cy="0"/>
          </a:xfrm>
          <a:prstGeom prst="line">
            <a:avLst/>
          </a:prstGeom>
          <a:ln w="19050">
            <a:solidFill>
              <a:srgbClr val="D7E1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9326880" y="3840480"/>
            <a:ext cx="1463040" cy="49377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26880" y="3986784"/>
            <a:ext cx="1463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 i="0">
                <a:solidFill>
                  <a:srgbClr val="5D6B80"/>
                </a:solidFill>
                <a:latin typeface="Noto Sans CJK SC"/>
              </a:rPr>
              <a:t>等待结果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480060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B66C3"/>
                </a:solidFill>
                <a:latin typeface="Noto Sans CJK SC"/>
              </a:rPr>
              <a:t>智渔Agent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828800" y="4663440"/>
            <a:ext cx="1463040" cy="493776"/>
          </a:xfrm>
          <a:prstGeom prst="roundRect">
            <a:avLst>
              <a:gd name="adj" fmla="val 12000"/>
            </a:avLst>
          </a:prstGeom>
          <a:solidFill>
            <a:srgbClr val="EAF3FF"/>
          </a:solidFill>
          <a:ln w="10160">
            <a:solidFill>
              <a:srgbClr val="0B66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828800" y="4809744"/>
            <a:ext cx="1463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 i="0">
                <a:solidFill>
                  <a:srgbClr val="14233B"/>
                </a:solidFill>
                <a:latin typeface="Noto Sans CJK SC"/>
              </a:rPr>
              <a:t>主动取数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3310128" y="4910328"/>
            <a:ext cx="310896" cy="0"/>
          </a:xfrm>
          <a:prstGeom prst="line">
            <a:avLst/>
          </a:prstGeom>
          <a:ln w="19050">
            <a:solidFill>
              <a:srgbClr val="0B66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3703320" y="4663440"/>
            <a:ext cx="1463040" cy="493776"/>
          </a:xfrm>
          <a:prstGeom prst="roundRect">
            <a:avLst>
              <a:gd name="adj" fmla="val 12000"/>
            </a:avLst>
          </a:prstGeom>
          <a:solidFill>
            <a:srgbClr val="EAF3FF"/>
          </a:solidFill>
          <a:ln w="10160">
            <a:solidFill>
              <a:srgbClr val="0B66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703320" y="4809744"/>
            <a:ext cx="1463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 i="0">
                <a:solidFill>
                  <a:srgbClr val="14233B"/>
                </a:solidFill>
                <a:latin typeface="Noto Sans CJK SC"/>
              </a:rPr>
              <a:t>Agent 研判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5184648" y="4910328"/>
            <a:ext cx="310896" cy="0"/>
          </a:xfrm>
          <a:prstGeom prst="line">
            <a:avLst/>
          </a:prstGeom>
          <a:ln w="19050">
            <a:solidFill>
              <a:srgbClr val="0B66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5577840" y="4663440"/>
            <a:ext cx="1463040" cy="493776"/>
          </a:xfrm>
          <a:prstGeom prst="roundRect">
            <a:avLst>
              <a:gd name="adj" fmla="val 12000"/>
            </a:avLst>
          </a:prstGeom>
          <a:solidFill>
            <a:srgbClr val="EAF9F3"/>
          </a:solidFill>
          <a:ln w="10160">
            <a:solidFill>
              <a:srgbClr val="41D1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577840" y="4809744"/>
            <a:ext cx="1463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 i="0">
                <a:solidFill>
                  <a:srgbClr val="14233B"/>
                </a:solidFill>
                <a:latin typeface="Noto Sans CJK SC"/>
              </a:rPr>
              <a:t>Skill 校验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7059168" y="4910328"/>
            <a:ext cx="310895" cy="0"/>
          </a:xfrm>
          <a:prstGeom prst="line">
            <a:avLst/>
          </a:prstGeom>
          <a:ln w="19050">
            <a:solidFill>
              <a:srgbClr val="41D1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7452359" y="4663440"/>
            <a:ext cx="1463040" cy="493776"/>
          </a:xfrm>
          <a:prstGeom prst="roundRect">
            <a:avLst>
              <a:gd name="adj" fmla="val 12000"/>
            </a:avLst>
          </a:prstGeom>
          <a:solidFill>
            <a:srgbClr val="EAF9F3"/>
          </a:solidFill>
          <a:ln w="10160">
            <a:solidFill>
              <a:srgbClr val="41D1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452359" y="4809744"/>
            <a:ext cx="1463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 i="0">
                <a:solidFill>
                  <a:srgbClr val="14233B"/>
                </a:solidFill>
                <a:latin typeface="Noto Sans CJK SC"/>
              </a:rPr>
              <a:t>MQTT 执行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8933688" y="4910328"/>
            <a:ext cx="310896" cy="0"/>
          </a:xfrm>
          <a:prstGeom prst="line">
            <a:avLst/>
          </a:prstGeom>
          <a:ln w="19050">
            <a:solidFill>
              <a:srgbClr val="41D1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9326880" y="4663440"/>
            <a:ext cx="1463040" cy="493776"/>
          </a:xfrm>
          <a:prstGeom prst="roundRect">
            <a:avLst>
              <a:gd name="adj" fmla="val 12000"/>
            </a:avLst>
          </a:prstGeom>
          <a:solidFill>
            <a:srgbClr val="EAF9F3"/>
          </a:solidFill>
          <a:ln w="10160">
            <a:solidFill>
              <a:srgbClr val="41D1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326880" y="4809744"/>
            <a:ext cx="1463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 i="0">
                <a:solidFill>
                  <a:srgbClr val="14233B"/>
                </a:solidFill>
                <a:latin typeface="Noto Sans CJK SC"/>
              </a:rPr>
              <a:t>延时复核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21792" y="5596128"/>
            <a:ext cx="10972800" cy="384048"/>
          </a:xfrm>
          <a:prstGeom prst="roundRect">
            <a:avLst>
              <a:gd name="adj" fmla="val 12000"/>
            </a:avLst>
          </a:prstGeom>
          <a:solidFill>
            <a:srgbClr val="0B2A56"/>
          </a:solidFill>
          <a:ln w="10160">
            <a:solidFill>
              <a:srgbClr val="0B2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22960" y="5687568"/>
            <a:ext cx="10561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Noto Sans CJK SC"/>
              </a:rPr>
              <a:t>关键差异：模型负责理解与决策，Skill 负责可行性，MQTT 负责设备边界，复核 Agent 负责判断处置是否真的生效。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4023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0B66C3"/>
                </a:solidFill>
                <a:latin typeface="Noto Sans CJK SC"/>
              </a:rPr>
              <a:t>GOAI  /  BOUNDLESS AGENTS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5120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7255E8"/>
                </a:solidFill>
                <a:latin typeface="Noto Sans CJK SC"/>
              </a:rPr>
              <a:t>03 / AGENT 闭环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14233B"/>
                </a:solidFill>
                <a:latin typeface="Noto Sans CJK SC"/>
              </a:rPr>
              <a:t>一个完整闭环：以 B-01 低溶氧为例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65392"/>
            <a:ext cx="110642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5D6B80"/>
                </a:solidFill>
                <a:latin typeface="Noto Sans CJK SC"/>
              </a:rPr>
              <a:t>智渔Agent 2.0  /  GOAI Boundless Agents                                     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627632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4233B"/>
                </a:solidFill>
                <a:latin typeface="Noto Sans CJK SC"/>
              </a:rPr>
              <a:t>示例输入：B-01 溶解氧 2.8 mg/L，安全下限 4.0 mg/L。系统不止报错，而是把处理过程跑完。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2331720"/>
            <a:ext cx="1371600" cy="1426464"/>
          </a:xfrm>
          <a:prstGeom prst="roundRect">
            <a:avLst>
              <a:gd name="adj" fmla="val 12000"/>
            </a:avLst>
          </a:prstGeom>
          <a:solidFill>
            <a:srgbClr val="EAF3FF"/>
          </a:solidFill>
          <a:ln w="10160">
            <a:solidFill>
              <a:srgbClr val="0B66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15568" y="2487168"/>
            <a:ext cx="384048" cy="384048"/>
          </a:xfrm>
          <a:prstGeom prst="ellipse">
            <a:avLst/>
          </a:prstGeom>
          <a:solidFill>
            <a:srgbClr val="0B66C3"/>
          </a:solidFill>
          <a:ln w="10160">
            <a:solidFill>
              <a:srgbClr val="0B66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" y="2578608"/>
            <a:ext cx="38404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Noto Sans CJK SC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990088"/>
            <a:ext cx="1188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 i="0">
                <a:solidFill>
                  <a:srgbClr val="14233B"/>
                </a:solidFill>
                <a:latin typeface="Noto Sans CJK SC"/>
              </a:rPr>
              <a:t>任务输入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3273552"/>
            <a:ext cx="11887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0" i="0">
                <a:solidFill>
                  <a:srgbClr val="5D6B80"/>
                </a:solidFill>
                <a:latin typeface="Noto Sans CJK SC"/>
              </a:rPr>
              <a:t>MQTT 传感器
DO 2.8 mg/L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011680" y="3044952"/>
            <a:ext cx="182880" cy="0"/>
          </a:xfrm>
          <a:prstGeom prst="line">
            <a:avLst/>
          </a:prstGeom>
          <a:ln w="17780">
            <a:solidFill>
              <a:srgbClr val="0B66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249424" y="2331720"/>
            <a:ext cx="1371600" cy="1426464"/>
          </a:xfrm>
          <a:prstGeom prst="roundRect">
            <a:avLst>
              <a:gd name="adj" fmla="val 12000"/>
            </a:avLst>
          </a:prstGeom>
          <a:solidFill>
            <a:srgbClr val="EAF3FF"/>
          </a:solidFill>
          <a:ln w="10160">
            <a:solidFill>
              <a:srgbClr val="26C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743200" y="2487168"/>
            <a:ext cx="384048" cy="384048"/>
          </a:xfrm>
          <a:prstGeom prst="ellipse">
            <a:avLst/>
          </a:prstGeom>
          <a:solidFill>
            <a:srgbClr val="26C6E6"/>
          </a:solidFill>
          <a:ln w="10160">
            <a:solidFill>
              <a:srgbClr val="26C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0" y="2578608"/>
            <a:ext cx="38404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Noto Sans CJK SC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40864" y="2990088"/>
            <a:ext cx="1188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 i="0">
                <a:solidFill>
                  <a:srgbClr val="14233B"/>
                </a:solidFill>
                <a:latin typeface="Noto Sans CJK SC"/>
              </a:rPr>
              <a:t>意图理解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40864" y="3273552"/>
            <a:ext cx="11887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0" i="0">
                <a:solidFill>
                  <a:srgbClr val="5D6B80"/>
                </a:solidFill>
                <a:latin typeface="Noto Sans CJK SC"/>
              </a:rPr>
              <a:t>监控 Agent
识别低溶氧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639312" y="3044952"/>
            <a:ext cx="182879" cy="0"/>
          </a:xfrm>
          <a:prstGeom prst="line">
            <a:avLst/>
          </a:prstGeom>
          <a:ln w="17780">
            <a:solidFill>
              <a:srgbClr val="26C6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3877056" y="2331720"/>
            <a:ext cx="1371600" cy="1426464"/>
          </a:xfrm>
          <a:prstGeom prst="roundRect">
            <a:avLst>
              <a:gd name="adj" fmla="val 12000"/>
            </a:avLst>
          </a:prstGeom>
          <a:solidFill>
            <a:srgbClr val="F0EDFF"/>
          </a:solidFill>
          <a:ln w="10160">
            <a:solidFill>
              <a:srgbClr val="725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370832" y="2487168"/>
            <a:ext cx="384048" cy="384048"/>
          </a:xfrm>
          <a:prstGeom prst="ellipse">
            <a:avLst/>
          </a:prstGeom>
          <a:solidFill>
            <a:srgbClr val="7255E8"/>
          </a:solidFill>
          <a:ln w="10160">
            <a:solidFill>
              <a:srgbClr val="725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70832" y="2578608"/>
            <a:ext cx="38404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Noto Sans CJK SC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68496" y="2990088"/>
            <a:ext cx="1188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 i="0">
                <a:solidFill>
                  <a:srgbClr val="14233B"/>
                </a:solidFill>
                <a:latin typeface="Noto Sans CJK SC"/>
              </a:rPr>
              <a:t>任务规划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68496" y="3273552"/>
            <a:ext cx="11887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0" i="0">
                <a:solidFill>
                  <a:srgbClr val="5D6B80"/>
                </a:solidFill>
                <a:latin typeface="Noto Sans CJK SC"/>
              </a:rPr>
              <a:t>行动 Agent
建议 EXECUTE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266944" y="3044952"/>
            <a:ext cx="182880" cy="0"/>
          </a:xfrm>
          <a:prstGeom prst="line">
            <a:avLst/>
          </a:prstGeom>
          <a:ln w="17780">
            <a:solidFill>
              <a:srgbClr val="7255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5504688" y="2331720"/>
            <a:ext cx="1371600" cy="1426464"/>
          </a:xfrm>
          <a:prstGeom prst="roundRect">
            <a:avLst>
              <a:gd name="adj" fmla="val 12000"/>
            </a:avLst>
          </a:prstGeom>
          <a:solidFill>
            <a:srgbClr val="FFF8DF"/>
          </a:solidFill>
          <a:ln w="10160">
            <a:solidFill>
              <a:srgbClr val="FFD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998464" y="2487168"/>
            <a:ext cx="384048" cy="384048"/>
          </a:xfrm>
          <a:prstGeom prst="ellipse">
            <a:avLst/>
          </a:prstGeom>
          <a:solidFill>
            <a:srgbClr val="FFD13D"/>
          </a:solidFill>
          <a:ln w="10160">
            <a:solidFill>
              <a:srgbClr val="FFD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98464" y="2578608"/>
            <a:ext cx="38404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Noto Sans CJK SC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96127" y="2990088"/>
            <a:ext cx="1188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 i="0">
                <a:solidFill>
                  <a:srgbClr val="14233B"/>
                </a:solidFill>
                <a:latin typeface="Noto Sans CJK SC"/>
              </a:rPr>
              <a:t>Skill 校验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96127" y="3273552"/>
            <a:ext cx="11887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0" i="0">
                <a:solidFill>
                  <a:srgbClr val="5D6B80"/>
                </a:solidFill>
                <a:latin typeface="Noto Sans CJK SC"/>
              </a:rPr>
              <a:t>能力 / 风险 /
幂等 / 健康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894575" y="3044952"/>
            <a:ext cx="182880" cy="0"/>
          </a:xfrm>
          <a:prstGeom prst="line">
            <a:avLst/>
          </a:prstGeom>
          <a:ln w="17780">
            <a:solidFill>
              <a:srgbClr val="FFD1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7132320" y="2331720"/>
            <a:ext cx="1371600" cy="1426464"/>
          </a:xfrm>
          <a:prstGeom prst="roundRect">
            <a:avLst>
              <a:gd name="adj" fmla="val 12000"/>
            </a:avLst>
          </a:prstGeom>
          <a:solidFill>
            <a:srgbClr val="EAF9F3"/>
          </a:solidFill>
          <a:ln w="10160">
            <a:solidFill>
              <a:srgbClr val="41D1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626096" y="2487168"/>
            <a:ext cx="384048" cy="384048"/>
          </a:xfrm>
          <a:prstGeom prst="ellipse">
            <a:avLst/>
          </a:prstGeom>
          <a:solidFill>
            <a:srgbClr val="41D19A"/>
          </a:solidFill>
          <a:ln w="10160">
            <a:solidFill>
              <a:srgbClr val="41D1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26096" y="2578608"/>
            <a:ext cx="38404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Noto Sans CJK SC"/>
              </a:rPr>
              <a:t>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23759" y="2990088"/>
            <a:ext cx="1188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 i="0">
                <a:solidFill>
                  <a:srgbClr val="14233B"/>
                </a:solidFill>
                <a:latin typeface="Noto Sans CJK SC"/>
              </a:rPr>
              <a:t>设备执行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23759" y="3273552"/>
            <a:ext cx="11887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0" i="0">
                <a:solidFill>
                  <a:srgbClr val="5D6B80"/>
                </a:solidFill>
                <a:latin typeface="Noto Sans CJK SC"/>
              </a:rPr>
              <a:t>MQTT 发布
增氧机开启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8522208" y="3044952"/>
            <a:ext cx="182880" cy="0"/>
          </a:xfrm>
          <a:prstGeom prst="line">
            <a:avLst/>
          </a:prstGeom>
          <a:ln w="17780">
            <a:solidFill>
              <a:srgbClr val="41D1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8759952" y="2331720"/>
            <a:ext cx="1371600" cy="1426464"/>
          </a:xfrm>
          <a:prstGeom prst="roundRect">
            <a:avLst>
              <a:gd name="adj" fmla="val 12000"/>
            </a:avLst>
          </a:prstGeom>
          <a:solidFill>
            <a:srgbClr val="FFF0ED"/>
          </a:solidFill>
          <a:ln w="10160">
            <a:solidFill>
              <a:srgbClr val="FF6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253728" y="2487168"/>
            <a:ext cx="384048" cy="384048"/>
          </a:xfrm>
          <a:prstGeom prst="ellipse">
            <a:avLst/>
          </a:prstGeom>
          <a:solidFill>
            <a:srgbClr val="FF6B5E"/>
          </a:solidFill>
          <a:ln w="10160">
            <a:solidFill>
              <a:srgbClr val="FF6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253728" y="2578608"/>
            <a:ext cx="38404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Noto Sans CJK SC"/>
              </a:rPr>
              <a:t>06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51392" y="2990088"/>
            <a:ext cx="1188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 i="0">
                <a:solidFill>
                  <a:srgbClr val="14233B"/>
                </a:solidFill>
                <a:latin typeface="Noto Sans CJK SC"/>
              </a:rPr>
              <a:t>延时复核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851392" y="3273552"/>
            <a:ext cx="11887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0" i="0">
                <a:solidFill>
                  <a:srgbClr val="5D6B80"/>
                </a:solidFill>
                <a:latin typeface="Noto Sans CJK SC"/>
              </a:rPr>
              <a:t>主动巡塘
DO ≥ 5.0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10149840" y="3044952"/>
            <a:ext cx="182880" cy="0"/>
          </a:xfrm>
          <a:prstGeom prst="line">
            <a:avLst/>
          </a:prstGeom>
          <a:ln w="17780">
            <a:solidFill>
              <a:srgbClr val="FF6B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10387584" y="2331720"/>
            <a:ext cx="1371600" cy="1426464"/>
          </a:xfrm>
          <a:prstGeom prst="roundRect">
            <a:avLst>
              <a:gd name="adj" fmla="val 12000"/>
            </a:avLst>
          </a:prstGeom>
          <a:solidFill>
            <a:srgbClr val="EAF3FF"/>
          </a:solidFill>
          <a:ln w="10160">
            <a:solidFill>
              <a:srgbClr val="0B66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881359" y="2487168"/>
            <a:ext cx="384048" cy="384048"/>
          </a:xfrm>
          <a:prstGeom prst="ellipse">
            <a:avLst/>
          </a:prstGeom>
          <a:solidFill>
            <a:srgbClr val="0B66C3"/>
          </a:solidFill>
          <a:ln w="10160">
            <a:solidFill>
              <a:srgbClr val="0B66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881359" y="2578608"/>
            <a:ext cx="38404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Noto Sans CJK SC"/>
              </a:rPr>
              <a:t>07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479024" y="2990088"/>
            <a:ext cx="1188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 i="0">
                <a:solidFill>
                  <a:srgbClr val="14233B"/>
                </a:solidFill>
                <a:latin typeface="Noto Sans CJK SC"/>
              </a:rPr>
              <a:t>结果交付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479024" y="3273552"/>
            <a:ext cx="11887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0" i="0">
                <a:solidFill>
                  <a:srgbClr val="5D6B80"/>
                </a:solidFill>
                <a:latin typeface="Noto Sans CJK SC"/>
              </a:rPr>
              <a:t>关闭告警 /
人工接管 / 报告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21792" y="4133087"/>
            <a:ext cx="5120640" cy="12984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68680" y="4370832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41D19A"/>
                </a:solidFill>
                <a:latin typeface="Noto Sans CJK SC"/>
              </a:rPr>
              <a:t>自动处置成功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8680" y="4754880"/>
            <a:ext cx="4480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4233B"/>
                </a:solidFill>
                <a:latin typeface="Noto Sans CJK SC"/>
              </a:rPr>
              <a:t>增氧机开启 → 经过复核周期 → DO 达到恢复阈值 → 发送停机 → 事件关闭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68680" y="5084064"/>
            <a:ext cx="1078992" cy="292608"/>
          </a:xfrm>
          <a:prstGeom prst="roundRect">
            <a:avLst>
              <a:gd name="adj" fmla="val 12000"/>
            </a:avLst>
          </a:prstGeom>
          <a:solidFill>
            <a:srgbClr val="41D19A"/>
          </a:solidFill>
          <a:ln w="10160">
            <a:solidFill>
              <a:srgbClr val="41D1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68680" y="5116068"/>
            <a:ext cx="107899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 i="0">
                <a:solidFill>
                  <a:srgbClr val="0B2A56"/>
                </a:solidFill>
                <a:latin typeface="Noto Sans CJK SC"/>
              </a:rPr>
              <a:t>RESOLVED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103120" y="5129784"/>
            <a:ext cx="3200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5D6B80"/>
                </a:solidFill>
                <a:latin typeface="Noto Sans CJK SC"/>
              </a:rPr>
              <a:t>处置结果、复核时间、设备回执均进入审计与日报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016752" y="4133087"/>
            <a:ext cx="5577840" cy="1298448"/>
          </a:xfrm>
          <a:prstGeom prst="roundRect">
            <a:avLst>
              <a:gd name="adj" fmla="val 12000"/>
            </a:avLst>
          </a:prstGeom>
          <a:solidFill>
            <a:srgbClr val="FFF0ED"/>
          </a:solidFill>
          <a:ln w="10160">
            <a:solidFill>
              <a:srgbClr val="FF6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272784" y="4370832"/>
            <a:ext cx="2331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6B5E"/>
                </a:solidFill>
                <a:latin typeface="Noto Sans CJK SC"/>
              </a:rPr>
              <a:t>自动动作失败怎么办？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72784" y="4736592"/>
            <a:ext cx="4892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14233B"/>
                </a:solidFill>
                <a:latin typeface="Noto Sans CJK SC"/>
              </a:rPr>
              <a:t>设备不健康 / MQTT 无回执 / 模型输出无效 / 超时 → 不硬写设备，转人工任务并保留失败原因。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272784" y="5084064"/>
            <a:ext cx="1600200" cy="292608"/>
          </a:xfrm>
          <a:prstGeom prst="roundRect">
            <a:avLst>
              <a:gd name="adj" fmla="val 12000"/>
            </a:avLst>
          </a:prstGeom>
          <a:solidFill>
            <a:srgbClr val="FF6B5E"/>
          </a:solidFill>
          <a:ln w="10160">
            <a:solidFill>
              <a:srgbClr val="FF6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272784" y="5116068"/>
            <a:ext cx="160020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Noto Sans CJK SC"/>
              </a:rPr>
              <a:t>MANUAL_REQUIRED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092440" y="5129784"/>
            <a:ext cx="2560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5D6B80"/>
                </a:solidFill>
                <a:latin typeface="Noto Sans CJK SC"/>
              </a:rPr>
              <a:t>这条分支也是闭环的一部分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48640" y="6556248"/>
            <a:ext cx="10698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5D6B80"/>
                </a:solidFill>
                <a:latin typeface="Noto Sans CJK SC"/>
              </a:rPr>
              <a:t>示例使用模拟传感器与本地 MQTT Broker；恢复阈值与复核周期可配置，演示不连接真实生产设备。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4023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0B66C3"/>
                </a:solidFill>
                <a:latin typeface="Noto Sans CJK SC"/>
              </a:rPr>
              <a:t>GOAI  /  BOUNDLESS AGENTS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5120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7255E8"/>
                </a:solidFill>
                <a:latin typeface="Noto Sans CJK SC"/>
              </a:rPr>
              <a:t>04 / 技术深度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14233B"/>
                </a:solidFill>
                <a:latin typeface="Noto Sans CJK SC"/>
              </a:rPr>
              <a:t>Agent 如何真正做动作：设备写入有边界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65392"/>
            <a:ext cx="110642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5D6B80"/>
                </a:solidFill>
                <a:latin typeface="Noto Sans CJK SC"/>
              </a:rPr>
              <a:t>智渔Agent 2.0  /  GOAI Boundless Agents                                      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627632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>
                <a:solidFill>
                  <a:srgbClr val="14233B"/>
                </a:solidFill>
                <a:latin typeface="Noto Sans CJK SC"/>
              </a:rPr>
              <a:t>大模型不直接改设备状态。它只产生结构化决策，确定性 Skill 再决定这条动作是否可执行。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2286000"/>
            <a:ext cx="3218688" cy="3337560"/>
          </a:xfrm>
          <a:prstGeom prst="roundRect">
            <a:avLst>
              <a:gd name="adj" fmla="val 12000"/>
            </a:avLst>
          </a:prstGeom>
          <a:solidFill>
            <a:srgbClr val="EAF3FF"/>
          </a:solidFill>
          <a:ln w="10160">
            <a:solidFill>
              <a:srgbClr val="0B66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2542032"/>
            <a:ext cx="2560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B66C3"/>
                </a:solidFill>
                <a:latin typeface="Noto Sans CJK SC"/>
              </a:rPr>
              <a:t>大模型决策输出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2880360"/>
            <a:ext cx="24688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5D6B80"/>
                </a:solidFill>
                <a:latin typeface="Noto Sans CJK SC"/>
              </a:rPr>
              <a:t>只展示业务必要字段，不暴露 API Key、供应商路由等配置。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7824" y="3474720"/>
            <a:ext cx="2706624" cy="15727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C9DD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0704" y="3657600"/>
            <a:ext cx="233172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14233B"/>
                </a:solidFill>
                <a:latin typeface="Noto Sans Mono CJK SC"/>
              </a:rPr>
              <a:t>{
  "action": "EXECUTE",
  "device_id": "aerator-b01",
  "target_state": "on",
  "risk": "L2",
  "verification_delay": 300
}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31920" y="3931920"/>
            <a:ext cx="393192" cy="0"/>
          </a:xfrm>
          <a:prstGeom prst="line">
            <a:avLst/>
          </a:prstGeom>
          <a:ln w="27940">
            <a:solidFill>
              <a:srgbClr val="0B66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370832" y="2286000"/>
            <a:ext cx="3218688" cy="3337560"/>
          </a:xfrm>
          <a:prstGeom prst="roundRect">
            <a:avLst>
              <a:gd name="adj" fmla="val 12000"/>
            </a:avLst>
          </a:prstGeom>
          <a:solidFill>
            <a:srgbClr val="FFF8DF"/>
          </a:solidFill>
          <a:ln w="10160">
            <a:solidFill>
              <a:srgbClr val="FFD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26864" y="2542032"/>
            <a:ext cx="2560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4233B"/>
                </a:solidFill>
                <a:latin typeface="Noto Sans CJK SC"/>
              </a:rPr>
              <a:t>DeviceControlSkill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08576" y="3072384"/>
            <a:ext cx="2578608" cy="13533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14233B"/>
                </a:solidFill>
                <a:latin typeface="Noto Sans CJK SC"/>
              </a:defRPr>
            </a:pPr>
            <a:r>
              <a:t>·  动作白名单</a:t>
            </a:r>
          </a:p>
          <a:p>
            <a:pPr>
              <a:spcAft>
                <a:spcPts val="400"/>
              </a:spcAft>
              <a:defRPr sz="1050">
                <a:solidFill>
                  <a:srgbClr val="14233B"/>
                </a:solidFill>
                <a:latin typeface="Noto Sans CJK SC"/>
              </a:defRPr>
            </a:pPr>
            <a:r>
              <a:t>·  设备能力与健康状态</a:t>
            </a:r>
          </a:p>
          <a:p>
            <a:pPr>
              <a:spcAft>
                <a:spcPts val="400"/>
              </a:spcAft>
              <a:defRPr sz="1050">
                <a:solidFill>
                  <a:srgbClr val="14233B"/>
                </a:solidFill>
                <a:latin typeface="Noto Sans CJK SC"/>
              </a:defRPr>
            </a:pPr>
            <a:r>
              <a:t>·  风险等级与审批规则</a:t>
            </a:r>
          </a:p>
          <a:p>
            <a:pPr>
              <a:spcAft>
                <a:spcPts val="400"/>
              </a:spcAft>
              <a:defRPr sz="1050">
                <a:solidFill>
                  <a:srgbClr val="14233B"/>
                </a:solidFill>
                <a:latin typeface="Noto Sans CJK SC"/>
              </a:defRPr>
            </a:pPr>
            <a:r>
              <a:t>·  幂等键与超时</a:t>
            </a:r>
          </a:p>
          <a:p>
            <a:pPr>
              <a:spcAft>
                <a:spcPts val="400"/>
              </a:spcAft>
              <a:defRPr sz="1050">
                <a:solidFill>
                  <a:srgbClr val="14233B"/>
                </a:solidFill>
                <a:latin typeface="Noto Sans CJK SC"/>
              </a:defRPr>
            </a:pPr>
            <a:r>
              <a:t>·  失败原因分流人工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26864" y="4828032"/>
            <a:ext cx="1078992" cy="292608"/>
          </a:xfrm>
          <a:prstGeom prst="roundRect">
            <a:avLst>
              <a:gd name="adj" fmla="val 12000"/>
            </a:avLst>
          </a:prstGeom>
          <a:solidFill>
            <a:srgbClr val="41D19A"/>
          </a:solidFill>
          <a:ln w="10160">
            <a:solidFill>
              <a:srgbClr val="41D1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26864" y="4860036"/>
            <a:ext cx="107899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 i="0">
                <a:solidFill>
                  <a:srgbClr val="0B2A56"/>
                </a:solidFill>
                <a:latin typeface="Noto Sans CJK SC"/>
              </a:rPr>
              <a:t>允许 → 发布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33872" y="4828032"/>
            <a:ext cx="1078992" cy="292608"/>
          </a:xfrm>
          <a:prstGeom prst="roundRect">
            <a:avLst>
              <a:gd name="adj" fmla="val 12000"/>
            </a:avLst>
          </a:prstGeom>
          <a:solidFill>
            <a:srgbClr val="FF6B5E"/>
          </a:solidFill>
          <a:ln w="10160">
            <a:solidFill>
              <a:srgbClr val="FF6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33872" y="4860036"/>
            <a:ext cx="107899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Noto Sans CJK SC"/>
              </a:rPr>
              <a:t>拒绝 → 人工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680960" y="3931920"/>
            <a:ext cx="384048" cy="0"/>
          </a:xfrm>
          <a:prstGeom prst="line">
            <a:avLst/>
          </a:prstGeom>
          <a:ln w="27940">
            <a:solidFill>
              <a:srgbClr val="FFD1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119872" y="2286000"/>
            <a:ext cx="3447288" cy="3337560"/>
          </a:xfrm>
          <a:prstGeom prst="roundRect">
            <a:avLst>
              <a:gd name="adj" fmla="val 12000"/>
            </a:avLst>
          </a:prstGeom>
          <a:solidFill>
            <a:srgbClr val="EAF9F3"/>
          </a:solidFill>
          <a:ln w="10160">
            <a:solidFill>
              <a:srgbClr val="41D1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75904" y="2542032"/>
            <a:ext cx="2560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4233B"/>
                </a:solidFill>
                <a:latin typeface="Noto Sans CJK SC"/>
              </a:rPr>
              <a:t>MQTT 设备边界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75904" y="3035808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5D6B80"/>
                </a:solidFill>
                <a:latin typeface="Noto Sans CJK SC"/>
              </a:rPr>
              <a:t>发布主题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375904" y="3273552"/>
            <a:ext cx="2834640" cy="4754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C5E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22208" y="3438144"/>
            <a:ext cx="25420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14233B"/>
                </a:solidFill>
                <a:latin typeface="Noto Sans Mono CJK SC"/>
              </a:rPr>
              <a:t>farms/.../ponds/B-01/devices/aerator/commands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75904" y="4023360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5D6B80"/>
                </a:solidFill>
                <a:latin typeface="Noto Sans CJK SC"/>
              </a:rPr>
              <a:t>回执与状态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375904" y="4279392"/>
            <a:ext cx="2834640" cy="7498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C5E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22208" y="4370832"/>
            <a:ext cx="254203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14233B"/>
                </a:solidFill>
                <a:latin typeface="Noto Sans CJK SC"/>
              </a:rPr>
              <a:t>命令：开启增氧机
回执：ACKNOWLEDGED
状态：shadow_state = 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556248"/>
            <a:ext cx="10698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5D6B80"/>
                </a:solidFill>
                <a:latin typeface="Noto Sans CJK SC"/>
              </a:rPr>
              <a:t>代码对应：fishagent.agent_runtime.skills.device_control.DeviceControlSkill；动作发布与模拟设备均通过 MQTT。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4023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0B66C3"/>
                </a:solidFill>
                <a:latin typeface="Noto Sans CJK SC"/>
              </a:rPr>
              <a:t>GOAI  /  BOUNDLESS AGENTS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5120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7255E8"/>
                </a:solidFill>
                <a:latin typeface="Noto Sans CJK SC"/>
              </a:rPr>
              <a:t>05 / 多模态能力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14233B"/>
                </a:solidFill>
                <a:latin typeface="Noto Sans CJK SC"/>
              </a:rPr>
              <a:t>多模态不是装饰：异常事实要被交叉验证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65392"/>
            <a:ext cx="110642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5D6B80"/>
                </a:solidFill>
                <a:latin typeface="Noto Sans CJK SC"/>
              </a:rPr>
              <a:t>智渔Agent 2.0  /  GOAI Boundless Agents                                      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627632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4233B"/>
                </a:solidFill>
                <a:latin typeface="Noto Sans CJK SC"/>
              </a:rPr>
              <a:t>当传感器读数不可信或异常原因不唯一时，Agent 将图像、天气、知识库和设备状态合并成可解释证据。</a:t>
            </a:r>
          </a:p>
        </p:txBody>
      </p:sp>
      <p:pic>
        <p:nvPicPr>
          <p:cNvPr id="7" name="Picture 6" descr="b01-surf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2212848"/>
            <a:ext cx="3063240" cy="1920240"/>
          </a:xfrm>
          <a:prstGeom prst="rect">
            <a:avLst/>
          </a:prstGeom>
        </p:spPr>
      </p:pic>
      <p:pic>
        <p:nvPicPr>
          <p:cNvPr id="8" name="Picture 7" descr="b01-underwa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0" y="2212848"/>
            <a:ext cx="3063240" cy="19202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808" y="4206240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14233B"/>
                </a:solidFill>
                <a:latin typeface="Noto Sans CJK SC"/>
              </a:rPr>
              <a:t>水面摄像头 · 浮头 / 水面状态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68496" y="4206240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14233B"/>
                </a:solidFill>
                <a:latin typeface="Noto Sans CJK SC"/>
              </a:rPr>
              <a:t>水下摄像头 · 鱼群活动 / 体表观察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14032" y="2212848"/>
            <a:ext cx="4480560" cy="2194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88352" y="2468880"/>
            <a:ext cx="1920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4233B"/>
                </a:solidFill>
                <a:latin typeface="Noto Sans CJK SC"/>
              </a:rPr>
              <a:t>证据融合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88352" y="2889504"/>
            <a:ext cx="658368" cy="292608"/>
          </a:xfrm>
          <a:prstGeom prst="roundRect">
            <a:avLst>
              <a:gd name="adj" fmla="val 12000"/>
            </a:avLst>
          </a:prstGeom>
          <a:solidFill>
            <a:srgbClr val="0B66C3"/>
          </a:solidFill>
          <a:ln w="10160">
            <a:solidFill>
              <a:srgbClr val="0B66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88352" y="2921508"/>
            <a:ext cx="65836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Noto Sans CJK SC"/>
              </a:rPr>
              <a:t>传感器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11312" y="2935224"/>
            <a:ext cx="2971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5D6B80"/>
                </a:solidFill>
                <a:latin typeface="Noto Sans CJK SC"/>
              </a:rPr>
              <a:t>DO 2.8 mg/L / 质量 GOOD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88352" y="3227832"/>
            <a:ext cx="658368" cy="292608"/>
          </a:xfrm>
          <a:prstGeom prst="roundRect">
            <a:avLst>
              <a:gd name="adj" fmla="val 12000"/>
            </a:avLst>
          </a:prstGeom>
          <a:solidFill>
            <a:srgbClr val="26C6E6"/>
          </a:solidFill>
          <a:ln w="10160">
            <a:solidFill>
              <a:srgbClr val="26C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88352" y="3259836"/>
            <a:ext cx="65836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Noto Sans CJK SC"/>
              </a:rPr>
              <a:t>天气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11312" y="3273552"/>
            <a:ext cx="2971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5D6B80"/>
                </a:solidFill>
                <a:latin typeface="Noto Sans CJK SC"/>
              </a:rPr>
              <a:t>低气压 / 降雨前兆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88352" y="3566160"/>
            <a:ext cx="658368" cy="292608"/>
          </a:xfrm>
          <a:prstGeom prst="roundRect">
            <a:avLst>
              <a:gd name="adj" fmla="val 12000"/>
            </a:avLst>
          </a:prstGeom>
          <a:solidFill>
            <a:srgbClr val="7255E8"/>
          </a:solidFill>
          <a:ln w="10160">
            <a:solidFill>
              <a:srgbClr val="725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88352" y="3598164"/>
            <a:ext cx="65836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Noto Sans CJK SC"/>
              </a:rPr>
              <a:t>知识库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11312" y="3611880"/>
            <a:ext cx="2971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5D6B80"/>
                </a:solidFill>
                <a:latin typeface="Noto Sans CJK SC"/>
              </a:rPr>
              <a:t>低氧处置参考与风险提示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88352" y="3904487"/>
            <a:ext cx="658368" cy="292608"/>
          </a:xfrm>
          <a:prstGeom prst="roundRect">
            <a:avLst>
              <a:gd name="adj" fmla="val 12000"/>
            </a:avLst>
          </a:prstGeom>
          <a:solidFill>
            <a:srgbClr val="41D19A"/>
          </a:solidFill>
          <a:ln w="10160">
            <a:solidFill>
              <a:srgbClr val="41D1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88352" y="3936491"/>
            <a:ext cx="65836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Noto Sans CJK SC"/>
              </a:rPr>
              <a:t>设备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1312" y="3950207"/>
            <a:ext cx="2971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5D6B80"/>
                </a:solidFill>
                <a:latin typeface="Noto Sans CJK SC"/>
              </a:rPr>
              <a:t>增氧机健康 / 在线状态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14032" y="4645152"/>
            <a:ext cx="4480560" cy="960120"/>
          </a:xfrm>
          <a:prstGeom prst="roundRect">
            <a:avLst>
              <a:gd name="adj" fmla="val 12000"/>
            </a:avLst>
          </a:prstGeom>
          <a:solidFill>
            <a:srgbClr val="FFF0ED"/>
          </a:solidFill>
          <a:ln w="10160">
            <a:solidFill>
              <a:srgbClr val="FF6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88352" y="485546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6B5E"/>
                </a:solidFill>
                <a:latin typeface="Noto Sans CJK SC"/>
              </a:rPr>
              <a:t>安全分流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85632" y="4800600"/>
            <a:ext cx="27889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4233B"/>
                </a:solidFill>
                <a:latin typeface="Noto Sans CJK SC"/>
              </a:rPr>
              <a:t>传感器 SUSPECT / 设备不健康 / 高风险判断 → 不自动确诊，不自动投药，创建详细人工任务。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556248"/>
            <a:ext cx="10698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5D6B80"/>
                </a:solidFill>
                <a:latin typeface="Noto Sans CJK SC"/>
              </a:rPr>
              <a:t>图片为演示环境的模拟摄像头样例；未使用真实养殖户个人信息或生产现场视频。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4023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0B66C3"/>
                </a:solidFill>
                <a:latin typeface="Noto Sans CJK SC"/>
              </a:rPr>
              <a:t>GOAI  /  BOUNDLESS AGENTS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5120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7255E8"/>
                </a:solidFill>
                <a:latin typeface="Noto Sans CJK SC"/>
              </a:rPr>
              <a:t>06 / 可演示产品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14233B"/>
                </a:solidFill>
                <a:latin typeface="Noto Sans CJK SC"/>
              </a:rPr>
              <a:t>产品体验：评委可以从页面验证每一步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65392"/>
            <a:ext cx="110642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5D6B80"/>
                </a:solidFill>
                <a:latin typeface="Noto Sans CJK SC"/>
              </a:rPr>
              <a:t>智渔Agent 2.0  /  GOAI Boundless Agents                                      07</a:t>
            </a:r>
          </a:p>
        </p:txBody>
      </p:sp>
      <p:pic>
        <p:nvPicPr>
          <p:cNvPr id="6" name="Picture 5" descr="fishagent-monitor-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627632"/>
            <a:ext cx="7333488" cy="464515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21792" y="1627632"/>
            <a:ext cx="7333488" cy="4645152"/>
          </a:xfrm>
          <a:prstGeom prst="rect">
            <a:avLst/>
          </a:prstGeom>
          <a:solidFill>
            <a:srgbClr val="FFFFFF"/>
          </a:solidFill>
          <a:ln w="10160"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75320" y="1682496"/>
            <a:ext cx="3246120" cy="658368"/>
          </a:xfrm>
          <a:prstGeom prst="roundRect">
            <a:avLst>
              <a:gd name="adj" fmla="val 12000"/>
            </a:avLst>
          </a:prstGeom>
          <a:solidFill>
            <a:srgbClr val="EAF3FF"/>
          </a:solidFill>
          <a:ln w="10160"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385048" y="1810512"/>
            <a:ext cx="365760" cy="365760"/>
          </a:xfrm>
          <a:prstGeom prst="ellipse">
            <a:avLst/>
          </a:prstGeom>
          <a:solidFill>
            <a:srgbClr val="0B66C3"/>
          </a:solidFill>
          <a:ln w="10160">
            <a:solidFill>
              <a:srgbClr val="0B66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85048" y="1856232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Noto Sans CJK SC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42248" y="1773936"/>
            <a:ext cx="256946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4233B"/>
                </a:solidFill>
                <a:latin typeface="Noto Sans CJK SC"/>
              </a:rPr>
              <a:t>主动巡塘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42248" y="1993392"/>
            <a:ext cx="256946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5D6B80"/>
                </a:solidFill>
                <a:latin typeface="Noto Sans CJK SC"/>
              </a:rPr>
              <a:t>先向传感器发布 REPORT_NOW，再分析这批新鲜数据。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2487168"/>
            <a:ext cx="3246120" cy="658368"/>
          </a:xfrm>
          <a:prstGeom prst="roundRect">
            <a:avLst>
              <a:gd name="adj" fmla="val 12000"/>
            </a:avLst>
          </a:prstGeom>
          <a:solidFill>
            <a:srgbClr val="FFF8DF"/>
          </a:solidFill>
          <a:ln w="10160"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385048" y="2615184"/>
            <a:ext cx="365760" cy="365760"/>
          </a:xfrm>
          <a:prstGeom prst="ellipse">
            <a:avLst/>
          </a:prstGeom>
          <a:solidFill>
            <a:srgbClr val="FFD13D"/>
          </a:solidFill>
          <a:ln w="10160">
            <a:solidFill>
              <a:srgbClr val="FFD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5048" y="2660904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Noto Sans CJK SC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42248" y="2578608"/>
            <a:ext cx="256946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4233B"/>
                </a:solidFill>
                <a:latin typeface="Noto Sans CJK SC"/>
              </a:rPr>
              <a:t>水质监控面板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42248" y="2798064"/>
            <a:ext cx="256946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5D6B80"/>
                </a:solidFill>
                <a:latin typeface="Noto Sans CJK SC"/>
              </a:rPr>
              <a:t>异常来源高亮，所有 7 个指标可逐池塘查看。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75320" y="3291840"/>
            <a:ext cx="3246120" cy="658368"/>
          </a:xfrm>
          <a:prstGeom prst="roundRect">
            <a:avLst>
              <a:gd name="adj" fmla="val 12000"/>
            </a:avLst>
          </a:prstGeom>
          <a:solidFill>
            <a:srgbClr val="FFF0ED"/>
          </a:solidFill>
          <a:ln w="10160"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385048" y="3419856"/>
            <a:ext cx="365760" cy="365760"/>
          </a:xfrm>
          <a:prstGeom prst="ellipse">
            <a:avLst/>
          </a:prstGeom>
          <a:solidFill>
            <a:srgbClr val="FF6B5E"/>
          </a:solidFill>
          <a:ln w="10160">
            <a:solidFill>
              <a:srgbClr val="FF6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85048" y="3465576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Noto Sans CJK SC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42248" y="3383280"/>
            <a:ext cx="256946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4233B"/>
                </a:solidFill>
                <a:latin typeface="Noto Sans CJK SC"/>
              </a:rPr>
              <a:t>悬浮告警胶囊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42248" y="3602736"/>
            <a:ext cx="256946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5D6B80"/>
                </a:solidFill>
                <a:latin typeface="Noto Sans CJK SC"/>
              </a:rPr>
              <a:t>活跃告警固定在左侧，点击进入告警流程。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75320" y="4096512"/>
            <a:ext cx="3246120" cy="658368"/>
          </a:xfrm>
          <a:prstGeom prst="roundRect">
            <a:avLst>
              <a:gd name="adj" fmla="val 12000"/>
            </a:avLst>
          </a:prstGeom>
          <a:solidFill>
            <a:srgbClr val="EAF9F3"/>
          </a:solidFill>
          <a:ln w="10160"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385048" y="4224528"/>
            <a:ext cx="365760" cy="365760"/>
          </a:xfrm>
          <a:prstGeom prst="ellipse">
            <a:avLst/>
          </a:prstGeom>
          <a:solidFill>
            <a:srgbClr val="41D19A"/>
          </a:solidFill>
          <a:ln w="10160">
            <a:solidFill>
              <a:srgbClr val="41D1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85048" y="4270248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Noto Sans CJK SC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42248" y="4187952"/>
            <a:ext cx="256946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4233B"/>
                </a:solidFill>
                <a:latin typeface="Noto Sans CJK SC"/>
              </a:rPr>
              <a:t>Agent 执行中心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42248" y="4407408"/>
            <a:ext cx="256946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5D6B80"/>
                </a:solidFill>
                <a:latin typeface="Noto Sans CJK SC"/>
              </a:rPr>
              <a:t>展示待处理、进行中、已完成，而不是静态流程图。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75320" y="4901184"/>
            <a:ext cx="3246120" cy="658368"/>
          </a:xfrm>
          <a:prstGeom prst="roundRect">
            <a:avLst>
              <a:gd name="adj" fmla="val 12000"/>
            </a:avLst>
          </a:prstGeom>
          <a:solidFill>
            <a:srgbClr val="F0EDFF"/>
          </a:solidFill>
          <a:ln w="10160"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385048" y="5029200"/>
            <a:ext cx="365760" cy="365760"/>
          </a:xfrm>
          <a:prstGeom prst="ellipse">
            <a:avLst/>
          </a:prstGeom>
          <a:solidFill>
            <a:srgbClr val="7255E8"/>
          </a:solidFill>
          <a:ln w="10160">
            <a:solidFill>
              <a:srgbClr val="725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85048" y="5074920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Noto Sans CJK SC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42248" y="4992624"/>
            <a:ext cx="256946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4233B"/>
                </a:solidFill>
                <a:latin typeface="Noto Sans CJK SC"/>
              </a:rPr>
              <a:t>聊天与报告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42248" y="5212080"/>
            <a:ext cx="256946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5D6B80"/>
                </a:solidFill>
                <a:latin typeface="Noto Sans CJK SC"/>
              </a:rPr>
              <a:t>对话可查询快照，日报可下载独立 HTML。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556248"/>
            <a:ext cx="10698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5D6B80"/>
                </a:solidFill>
                <a:latin typeface="Noto Sans CJK SC"/>
              </a:rPr>
              <a:t>截图：本地运行实例 http://127.0.0.1:3000；数据为持久化模拟状态，页面交互与真实流程一致。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4023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0B66C3"/>
                </a:solidFill>
                <a:latin typeface="Noto Sans CJK SC"/>
              </a:rPr>
              <a:t>GOAI  /  BOUNDLESS AGENTS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5120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7255E8"/>
                </a:solidFill>
                <a:latin typeface="Noto Sans CJK SC"/>
              </a:rPr>
              <a:t>07 / 工程架构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14233B"/>
                </a:solidFill>
                <a:latin typeface="Noto Sans CJK SC"/>
              </a:rPr>
              <a:t>数据流：从传感器到可追溯报告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65392"/>
            <a:ext cx="110642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5D6B80"/>
                </a:solidFill>
                <a:latin typeface="Noto Sans CJK SC"/>
              </a:rPr>
              <a:t>智渔Agent 2.0  /  GOAI Boundless Agents                                     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627632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4233B"/>
                </a:solidFill>
                <a:latin typeface="Noto Sans CJK SC"/>
              </a:rPr>
              <a:t>系统把每一次输入、模型消息、决策、Skill 调用、设备回执和复核结果写入可观察轨迹。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2267712"/>
            <a:ext cx="1371600" cy="1389888"/>
          </a:xfrm>
          <a:prstGeom prst="roundRect">
            <a:avLst>
              <a:gd name="adj" fmla="val 12000"/>
            </a:avLst>
          </a:prstGeom>
          <a:solidFill>
            <a:srgbClr val="EAF3FF"/>
          </a:solidFill>
          <a:ln w="10160">
            <a:solidFill>
              <a:srgbClr val="0B66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514600"/>
            <a:ext cx="11521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4233B"/>
                </a:solidFill>
                <a:latin typeface="Noto Sans CJK SC"/>
              </a:rPr>
              <a:t>感知层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889504"/>
            <a:ext cx="1152144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19" b="0" i="0">
                <a:solidFill>
                  <a:srgbClr val="5D6B80"/>
                </a:solidFill>
                <a:latin typeface="Noto Sans CJK SC"/>
              </a:rPr>
              <a:t>传感器 / 摄像头 / 天气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011680" y="2953512"/>
            <a:ext cx="182880" cy="0"/>
          </a:xfrm>
          <a:prstGeom prst="line">
            <a:avLst/>
          </a:prstGeom>
          <a:ln w="19050">
            <a:solidFill>
              <a:srgbClr val="0B66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249424" y="2267712"/>
            <a:ext cx="1371600" cy="1389888"/>
          </a:xfrm>
          <a:prstGeom prst="roundRect">
            <a:avLst>
              <a:gd name="adj" fmla="val 12000"/>
            </a:avLst>
          </a:prstGeom>
          <a:solidFill>
            <a:srgbClr val="EAF3FF"/>
          </a:solidFill>
          <a:ln w="10160">
            <a:solidFill>
              <a:srgbClr val="26C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59152" y="2514600"/>
            <a:ext cx="11521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4233B"/>
                </a:solidFill>
                <a:latin typeface="Noto Sans CJK SC"/>
              </a:rPr>
              <a:t>消息层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59152" y="2889504"/>
            <a:ext cx="1152144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19" b="0" i="0">
                <a:solidFill>
                  <a:srgbClr val="5D6B80"/>
                </a:solidFill>
                <a:latin typeface="Noto Sans CJK SC"/>
              </a:rPr>
              <a:t>本地 MQTT Broker
上报 + 控制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639312" y="2953512"/>
            <a:ext cx="182879" cy="0"/>
          </a:xfrm>
          <a:prstGeom prst="line">
            <a:avLst/>
          </a:prstGeom>
          <a:ln w="19050">
            <a:solidFill>
              <a:srgbClr val="26C6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877056" y="2267712"/>
            <a:ext cx="1371600" cy="1389888"/>
          </a:xfrm>
          <a:prstGeom prst="roundRect">
            <a:avLst>
              <a:gd name="adj" fmla="val 12000"/>
            </a:avLst>
          </a:prstGeom>
          <a:solidFill>
            <a:srgbClr val="F0EDFF"/>
          </a:solidFill>
          <a:ln w="10160">
            <a:solidFill>
              <a:srgbClr val="725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86784" y="2514600"/>
            <a:ext cx="11521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4233B"/>
                </a:solidFill>
                <a:latin typeface="Noto Sans CJK SC"/>
              </a:rPr>
              <a:t>Agent 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86784" y="2889504"/>
            <a:ext cx="1152144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19" b="0" i="0">
                <a:solidFill>
                  <a:srgbClr val="5D6B80"/>
                </a:solidFill>
                <a:latin typeface="Noto Sans CJK SC"/>
              </a:rPr>
              <a:t>CrewAI Supervisor
专职 Agent 协作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266944" y="2953512"/>
            <a:ext cx="182880" cy="0"/>
          </a:xfrm>
          <a:prstGeom prst="line">
            <a:avLst/>
          </a:prstGeom>
          <a:ln w="19050">
            <a:solidFill>
              <a:srgbClr val="7255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504688" y="2267712"/>
            <a:ext cx="1371600" cy="1389888"/>
          </a:xfrm>
          <a:prstGeom prst="roundRect">
            <a:avLst>
              <a:gd name="adj" fmla="val 12000"/>
            </a:avLst>
          </a:prstGeom>
          <a:solidFill>
            <a:srgbClr val="FFF8DF"/>
          </a:solidFill>
          <a:ln w="10160">
            <a:solidFill>
              <a:srgbClr val="FFD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14416" y="2514600"/>
            <a:ext cx="11521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4233B"/>
                </a:solidFill>
                <a:latin typeface="Noto Sans CJK SC"/>
              </a:rPr>
              <a:t>工具层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14416" y="2889504"/>
            <a:ext cx="1152144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19" b="0" i="0">
                <a:solidFill>
                  <a:srgbClr val="5D6B80"/>
                </a:solidFill>
                <a:latin typeface="Noto Sans CJK SC"/>
              </a:rPr>
              <a:t>RAG / Weather /
DeviceControlSkill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894575" y="2953512"/>
            <a:ext cx="182880" cy="0"/>
          </a:xfrm>
          <a:prstGeom prst="line">
            <a:avLst/>
          </a:prstGeom>
          <a:ln w="19050">
            <a:solidFill>
              <a:srgbClr val="FFD1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132320" y="2267712"/>
            <a:ext cx="1371600" cy="1389888"/>
          </a:xfrm>
          <a:prstGeom prst="roundRect">
            <a:avLst>
              <a:gd name="adj" fmla="val 12000"/>
            </a:avLst>
          </a:prstGeom>
          <a:solidFill>
            <a:srgbClr val="EAF9F3"/>
          </a:solidFill>
          <a:ln w="10160">
            <a:solidFill>
              <a:srgbClr val="41D1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42048" y="2514600"/>
            <a:ext cx="11521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4233B"/>
                </a:solidFill>
                <a:latin typeface="Noto Sans CJK SC"/>
              </a:rPr>
              <a:t>执行层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42048" y="2889504"/>
            <a:ext cx="1152144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19" b="0" i="0">
                <a:solidFill>
                  <a:srgbClr val="5D6B80"/>
                </a:solidFill>
                <a:latin typeface="Noto Sans CJK SC"/>
              </a:rPr>
              <a:t>MQTT 控制消息
模拟设备回执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522208" y="2953512"/>
            <a:ext cx="182880" cy="0"/>
          </a:xfrm>
          <a:prstGeom prst="line">
            <a:avLst/>
          </a:prstGeom>
          <a:ln w="19050">
            <a:solidFill>
              <a:srgbClr val="41D1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759952" y="2267712"/>
            <a:ext cx="1371600" cy="1389888"/>
          </a:xfrm>
          <a:prstGeom prst="roundRect">
            <a:avLst>
              <a:gd name="adj" fmla="val 12000"/>
            </a:avLst>
          </a:prstGeom>
          <a:solidFill>
            <a:srgbClr val="FFF0ED"/>
          </a:solidFill>
          <a:ln w="10160">
            <a:solidFill>
              <a:srgbClr val="FF6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869680" y="2514600"/>
            <a:ext cx="11521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4233B"/>
                </a:solidFill>
                <a:latin typeface="Noto Sans CJK SC"/>
              </a:rPr>
              <a:t>验证层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69680" y="2889504"/>
            <a:ext cx="1152144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19" b="0" i="0">
                <a:solidFill>
                  <a:srgbClr val="5D6B80"/>
                </a:solidFill>
                <a:latin typeface="Noto Sans CJK SC"/>
              </a:rPr>
              <a:t>主动巡塘 / 复核
告警状态更新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0149840" y="2953512"/>
            <a:ext cx="182880" cy="0"/>
          </a:xfrm>
          <a:prstGeom prst="line">
            <a:avLst/>
          </a:prstGeom>
          <a:ln w="19050">
            <a:solidFill>
              <a:srgbClr val="FF6B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10387584" y="2267712"/>
            <a:ext cx="1371600" cy="1389888"/>
          </a:xfrm>
          <a:prstGeom prst="roundRect">
            <a:avLst>
              <a:gd name="adj" fmla="val 12000"/>
            </a:avLst>
          </a:prstGeom>
          <a:solidFill>
            <a:srgbClr val="EAF3FF"/>
          </a:solidFill>
          <a:ln w="10160">
            <a:solidFill>
              <a:srgbClr val="0B66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497311" y="2514600"/>
            <a:ext cx="11521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4233B"/>
                </a:solidFill>
                <a:latin typeface="Noto Sans CJK SC"/>
              </a:rPr>
              <a:t>交付层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97311" y="2889504"/>
            <a:ext cx="1152144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19" b="0" i="0">
                <a:solidFill>
                  <a:srgbClr val="5D6B80"/>
                </a:solidFill>
                <a:latin typeface="Noto Sans CJK SC"/>
              </a:rPr>
              <a:t>页面 / 聊天 / 日报
审计与人工任务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" y="4041648"/>
            <a:ext cx="10972800" cy="12984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6112" y="4297680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4233B"/>
                </a:solidFill>
                <a:latin typeface="Noto Sans CJK SC"/>
              </a:rPr>
              <a:t>可观察证据</a:t>
            </a:r>
          </a:p>
        </p:txBody>
      </p:sp>
      <p:sp>
        <p:nvSpPr>
          <p:cNvPr id="36" name="Oval 35"/>
          <p:cNvSpPr/>
          <p:nvPr/>
        </p:nvSpPr>
        <p:spPr>
          <a:xfrm>
            <a:off x="2304288" y="4297680"/>
            <a:ext cx="310896" cy="310896"/>
          </a:xfrm>
          <a:prstGeom prst="ellipse">
            <a:avLst/>
          </a:prstGeom>
          <a:solidFill>
            <a:srgbClr val="0B66C3"/>
          </a:solidFill>
          <a:ln w="10160">
            <a:solidFill>
              <a:srgbClr val="0B66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06624" y="4279392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14233B"/>
                </a:solidFill>
                <a:latin typeface="Noto Sans CJK SC"/>
              </a:rPr>
              <a:t>时间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06624" y="4535424"/>
            <a:ext cx="123444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19" b="0" i="0">
                <a:solidFill>
                  <a:srgbClr val="5D6B80"/>
                </a:solidFill>
                <a:latin typeface="Noto Sans CJK SC"/>
              </a:rPr>
              <a:t>本地时区 Agent 轨迹</a:t>
            </a:r>
          </a:p>
        </p:txBody>
      </p:sp>
      <p:sp>
        <p:nvSpPr>
          <p:cNvPr id="39" name="Oval 38"/>
          <p:cNvSpPr/>
          <p:nvPr/>
        </p:nvSpPr>
        <p:spPr>
          <a:xfrm>
            <a:off x="4069080" y="4297680"/>
            <a:ext cx="310896" cy="310896"/>
          </a:xfrm>
          <a:prstGeom prst="ellipse">
            <a:avLst/>
          </a:prstGeom>
          <a:solidFill>
            <a:srgbClr val="7255E8"/>
          </a:solidFill>
          <a:ln w="10160">
            <a:solidFill>
              <a:srgbClr val="725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471416" y="4279392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14233B"/>
                </a:solidFill>
                <a:latin typeface="Noto Sans CJK SC"/>
              </a:rPr>
              <a:t>消息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71416" y="4535424"/>
            <a:ext cx="123444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19" b="0" i="0">
                <a:solidFill>
                  <a:srgbClr val="5D6B80"/>
                </a:solidFill>
                <a:latin typeface="Noto Sans CJK SC"/>
              </a:rPr>
              <a:t>大模型请求 / 回复摘要</a:t>
            </a:r>
          </a:p>
        </p:txBody>
      </p:sp>
      <p:sp>
        <p:nvSpPr>
          <p:cNvPr id="42" name="Oval 41"/>
          <p:cNvSpPr/>
          <p:nvPr/>
        </p:nvSpPr>
        <p:spPr>
          <a:xfrm>
            <a:off x="5833872" y="4297680"/>
            <a:ext cx="310896" cy="310896"/>
          </a:xfrm>
          <a:prstGeom prst="ellipse">
            <a:avLst/>
          </a:prstGeom>
          <a:solidFill>
            <a:srgbClr val="FFD13D"/>
          </a:solidFill>
          <a:ln w="10160">
            <a:solidFill>
              <a:srgbClr val="FFD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36208" y="4279392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14233B"/>
                </a:solidFill>
                <a:latin typeface="Noto Sans CJK SC"/>
              </a:rPr>
              <a:t>决策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36208" y="4535424"/>
            <a:ext cx="123444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19" b="0" i="0">
                <a:solidFill>
                  <a:srgbClr val="5D6B80"/>
                </a:solidFill>
                <a:latin typeface="Noto Sans CJK SC"/>
              </a:rPr>
              <a:t>结构化 action / rationale</a:t>
            </a:r>
          </a:p>
        </p:txBody>
      </p:sp>
      <p:sp>
        <p:nvSpPr>
          <p:cNvPr id="45" name="Oval 44"/>
          <p:cNvSpPr/>
          <p:nvPr/>
        </p:nvSpPr>
        <p:spPr>
          <a:xfrm>
            <a:off x="7598664" y="4297680"/>
            <a:ext cx="310896" cy="310896"/>
          </a:xfrm>
          <a:prstGeom prst="ellipse">
            <a:avLst/>
          </a:prstGeom>
          <a:solidFill>
            <a:srgbClr val="41D19A"/>
          </a:solidFill>
          <a:ln w="10160">
            <a:solidFill>
              <a:srgbClr val="41D1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01000" y="4279392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14233B"/>
                </a:solidFill>
                <a:latin typeface="Noto Sans CJK SC"/>
              </a:rPr>
              <a:t>动作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01000" y="4535424"/>
            <a:ext cx="123444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19" b="0" i="0">
                <a:solidFill>
                  <a:srgbClr val="5D6B80"/>
                </a:solidFill>
                <a:latin typeface="Noto Sans CJK SC"/>
              </a:rPr>
              <a:t>Skill 结果 / MQTT 回执</a:t>
            </a:r>
          </a:p>
        </p:txBody>
      </p:sp>
      <p:sp>
        <p:nvSpPr>
          <p:cNvPr id="48" name="Oval 47"/>
          <p:cNvSpPr/>
          <p:nvPr/>
        </p:nvSpPr>
        <p:spPr>
          <a:xfrm>
            <a:off x="9363456" y="4297680"/>
            <a:ext cx="310896" cy="310896"/>
          </a:xfrm>
          <a:prstGeom prst="ellipse">
            <a:avLst/>
          </a:prstGeom>
          <a:solidFill>
            <a:srgbClr val="FF6B5E"/>
          </a:solidFill>
          <a:ln w="10160">
            <a:solidFill>
              <a:srgbClr val="FF6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765792" y="4279392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14233B"/>
                </a:solidFill>
                <a:latin typeface="Noto Sans CJK SC"/>
              </a:rPr>
              <a:t>复核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765792" y="4535424"/>
            <a:ext cx="123444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19" b="0" i="0">
                <a:solidFill>
                  <a:srgbClr val="5D6B80"/>
                </a:solidFill>
                <a:latin typeface="Noto Sans CJK SC"/>
              </a:rPr>
              <a:t>上次结果 / 下次复核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96112" y="5029200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5D6B80"/>
                </a:solidFill>
                <a:latin typeface="Noto Sans CJK SC"/>
              </a:rPr>
              <a:t>基础设施：PostgreSQL 持久化 · Redis 事件加速 · MinIO 媒体 / 文件 · Celery 调度 · FastAPI Web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21792" y="5577840"/>
            <a:ext cx="10972800" cy="438912"/>
          </a:xfrm>
          <a:prstGeom prst="roundRect">
            <a:avLst>
              <a:gd name="adj" fmla="val 12000"/>
            </a:avLst>
          </a:prstGeom>
          <a:solidFill>
            <a:srgbClr val="0B2A56"/>
          </a:solidFill>
          <a:ln w="10160">
            <a:solidFill>
              <a:srgbClr val="0B2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41248" y="5705856"/>
            <a:ext cx="10515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Noto Sans CJK SC"/>
              </a:rPr>
              <a:t>数据流不是 PPT 假流程：前端直接读取 agent_runs / events / commands / verification_results 的真实运行快照。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4023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0B66C3"/>
                </a:solidFill>
                <a:latin typeface="Noto Sans CJK SC"/>
              </a:rPr>
              <a:t>GOAI  /  BOUNDLESS AGENTS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5120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7255E8"/>
                </a:solidFill>
                <a:latin typeface="Noto Sans CJK SC"/>
              </a:rPr>
              <a:t>08 / 安全与合规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14233B"/>
                </a:solidFill>
                <a:latin typeface="Noto Sans CJK SC"/>
              </a:rPr>
              <a:t>安全边界：让 Agent 能做事，也知道不能做什么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65392"/>
            <a:ext cx="110642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5D6B80"/>
                </a:solidFill>
                <a:latin typeface="Noto Sans CJK SC"/>
              </a:rPr>
              <a:t>智渔Agent 2.0  /  GOAI Boundless Agents                                      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627632"/>
            <a:ext cx="10972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4233B"/>
                </a:solidFill>
                <a:latin typeface="Noto Sans CJK SC"/>
              </a:rPr>
              <a:t>水产养殖涉及生物、设备和现场操作风险。智渔Agent把“能否行动”从模型输出中拿出来，交给可审计的执行边界。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2286000"/>
            <a:ext cx="2468880" cy="1600200"/>
          </a:xfrm>
          <a:prstGeom prst="roundRect">
            <a:avLst>
              <a:gd name="adj" fmla="val 12000"/>
            </a:avLst>
          </a:prstGeom>
          <a:solidFill>
            <a:srgbClr val="EAF3FF"/>
          </a:solidFill>
          <a:ln w="10160">
            <a:solidFill>
              <a:srgbClr val="0B66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551176"/>
            <a:ext cx="2057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4233B"/>
                </a:solidFill>
                <a:latin typeface="Noto Sans CJK SC"/>
              </a:rPr>
              <a:t>模型层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926080"/>
            <a:ext cx="20116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D6B80"/>
                </a:solidFill>
                <a:latin typeface="Noto Sans CJK SC"/>
              </a:rPr>
              <a:t>负责理解
规划与解释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502152"/>
            <a:ext cx="1600200" cy="292608"/>
          </a:xfrm>
          <a:prstGeom prst="roundRect">
            <a:avLst>
              <a:gd name="adj" fmla="val 12000"/>
            </a:avLst>
          </a:prstGeom>
          <a:solidFill>
            <a:srgbClr val="0B66C3"/>
          </a:solidFill>
          <a:ln w="10160">
            <a:solidFill>
              <a:srgbClr val="0B66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534156"/>
            <a:ext cx="160020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Noto Sans CJK SC"/>
              </a:rPr>
              <a:t>不直接写设备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92424" y="2286000"/>
            <a:ext cx="2468880" cy="1600200"/>
          </a:xfrm>
          <a:prstGeom prst="roundRect">
            <a:avLst>
              <a:gd name="adj" fmla="val 12000"/>
            </a:avLst>
          </a:prstGeom>
          <a:solidFill>
            <a:srgbClr val="FFF8DF"/>
          </a:solidFill>
          <a:ln w="10160">
            <a:solidFill>
              <a:srgbClr val="FFD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93592" y="2551176"/>
            <a:ext cx="2057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4233B"/>
                </a:solidFill>
                <a:latin typeface="Noto Sans CJK SC"/>
              </a:rPr>
              <a:t>策略门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3592" y="2926080"/>
            <a:ext cx="20116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D6B80"/>
                </a:solidFill>
                <a:latin typeface="Noto Sans CJK SC"/>
              </a:rPr>
              <a:t>白名单 / 能力
风险 / 幂等 / 审批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93592" y="3502152"/>
            <a:ext cx="1600200" cy="292608"/>
          </a:xfrm>
          <a:prstGeom prst="roundRect">
            <a:avLst>
              <a:gd name="adj" fmla="val 12000"/>
            </a:avLst>
          </a:prstGeom>
          <a:solidFill>
            <a:srgbClr val="FFD13D"/>
          </a:solidFill>
          <a:ln w="10160">
            <a:solidFill>
              <a:srgbClr val="FFD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93592" y="3534156"/>
            <a:ext cx="160020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 i="0">
                <a:solidFill>
                  <a:srgbClr val="0B2A56"/>
                </a:solidFill>
                <a:latin typeface="Noto Sans CJK SC"/>
              </a:rPr>
              <a:t>Skill 才能执行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63055" y="2286000"/>
            <a:ext cx="2468880" cy="1600200"/>
          </a:xfrm>
          <a:prstGeom prst="roundRect">
            <a:avLst>
              <a:gd name="adj" fmla="val 12000"/>
            </a:avLst>
          </a:prstGeom>
          <a:solidFill>
            <a:srgbClr val="FFF0ED"/>
          </a:solidFill>
          <a:ln w="10160">
            <a:solidFill>
              <a:srgbClr val="FF6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64223" y="2551176"/>
            <a:ext cx="2057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4233B"/>
                </a:solidFill>
                <a:latin typeface="Noto Sans CJK SC"/>
              </a:rPr>
              <a:t>人工路由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64223" y="2926080"/>
            <a:ext cx="20116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D6B80"/>
                </a:solidFill>
                <a:latin typeface="Noto Sans CJK SC"/>
              </a:rPr>
              <a:t>无效输出 / 超时
回执失败 / 高风险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64223" y="3502152"/>
            <a:ext cx="1600200" cy="292608"/>
          </a:xfrm>
          <a:prstGeom prst="roundRect">
            <a:avLst>
              <a:gd name="adj" fmla="val 12000"/>
            </a:avLst>
          </a:prstGeom>
          <a:solidFill>
            <a:srgbClr val="FF6B5E"/>
          </a:solidFill>
          <a:ln w="10160">
            <a:solidFill>
              <a:srgbClr val="FF6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64223" y="3534156"/>
            <a:ext cx="160020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Noto Sans CJK SC"/>
              </a:rPr>
              <a:t>详细任务接管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33688" y="2286000"/>
            <a:ext cx="2468880" cy="1600200"/>
          </a:xfrm>
          <a:prstGeom prst="roundRect">
            <a:avLst>
              <a:gd name="adj" fmla="val 12000"/>
            </a:avLst>
          </a:prstGeom>
          <a:solidFill>
            <a:srgbClr val="EAF9F3"/>
          </a:solidFill>
          <a:ln w="10160">
            <a:solidFill>
              <a:srgbClr val="41D1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34856" y="2551176"/>
            <a:ext cx="2057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4233B"/>
                </a:solidFill>
                <a:latin typeface="Noto Sans CJK SC"/>
              </a:rPr>
              <a:t>审计层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34856" y="2926080"/>
            <a:ext cx="20116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D6B80"/>
                </a:solidFill>
                <a:latin typeface="Noto Sans CJK SC"/>
              </a:rPr>
              <a:t>证据 / 决策 / 回执
复核 / 报告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34856" y="3502152"/>
            <a:ext cx="1600200" cy="292608"/>
          </a:xfrm>
          <a:prstGeom prst="roundRect">
            <a:avLst>
              <a:gd name="adj" fmla="val 12000"/>
            </a:avLst>
          </a:prstGeom>
          <a:solidFill>
            <a:srgbClr val="41D19A"/>
          </a:solidFill>
          <a:ln w="10160">
            <a:solidFill>
              <a:srgbClr val="41D1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34856" y="3534156"/>
            <a:ext cx="160020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Noto Sans CJK SC"/>
              </a:rPr>
              <a:t>每一步可追溯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" y="4279392"/>
            <a:ext cx="5321808" cy="13533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7824" y="4535424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4233B"/>
                </a:solidFill>
                <a:latin typeface="Noto Sans CJK SC"/>
              </a:rPr>
              <a:t>数据与隐私边界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" y="4901184"/>
            <a:ext cx="4709160" cy="5943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00"/>
              </a:spcAft>
              <a:defRPr sz="950">
                <a:solidFill>
                  <a:srgbClr val="14233B"/>
                </a:solidFill>
                <a:latin typeface="Noto Sans CJK SC"/>
              </a:defRPr>
            </a:pPr>
            <a:r>
              <a:t>·  传感器、图像、天气、知识库均为演示模拟数据</a:t>
            </a:r>
          </a:p>
          <a:p>
            <a:pPr>
              <a:spcAft>
                <a:spcPts val="100"/>
              </a:spcAft>
              <a:defRPr sz="950">
                <a:solidFill>
                  <a:srgbClr val="14233B"/>
                </a:solidFill>
                <a:latin typeface="Noto Sans CJK SC"/>
              </a:defRPr>
            </a:pPr>
            <a:r>
              <a:t>·  不使用养殖户个人信息，不回显 API Key</a:t>
            </a:r>
          </a:p>
          <a:p>
            <a:pPr>
              <a:spcAft>
                <a:spcPts val="100"/>
              </a:spcAft>
              <a:defRPr sz="950">
                <a:solidFill>
                  <a:srgbClr val="14233B"/>
                </a:solidFill>
                <a:latin typeface="Noto Sans CJK SC"/>
              </a:defRPr>
            </a:pPr>
            <a:r>
              <a:t>·  真实厂商设备协议、现场生产数据仍需授权后接入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99632" y="4279392"/>
            <a:ext cx="5394960" cy="1353312"/>
          </a:xfrm>
          <a:prstGeom prst="roundRect">
            <a:avLst>
              <a:gd name="adj" fmla="val 12000"/>
            </a:avLst>
          </a:prstGeom>
          <a:solidFill>
            <a:srgbClr val="FFF0ED"/>
          </a:solidFill>
          <a:ln w="10160">
            <a:solidFill>
              <a:srgbClr val="FF6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55664" y="4535424"/>
            <a:ext cx="2103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6B5E"/>
                </a:solidFill>
                <a:latin typeface="Noto Sans CJK SC"/>
              </a:rPr>
              <a:t>比赛材料待补边界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55664" y="4919472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14233B"/>
                </a:solidFill>
                <a:latin typeface="Noto Sans CJK SC"/>
              </a:rPr>
              <a:t>□ 真实试点数据授权说明   □ 第三方模型 / API 清单
□ 现场设备接入责任边界   □ 专业人员审核确认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556248"/>
            <a:ext cx="10698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5D6B80"/>
                </a:solidFill>
                <a:latin typeface="Noto Sans CJK SC"/>
              </a:rPr>
              <a:t>按手册 9.1—9.4：说明数据来源、授权、第三方依赖、风险提示，并不得替代现场专业人员最终判断。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4023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0B66C3"/>
                </a:solidFill>
                <a:latin typeface="Noto Sans CJK SC"/>
              </a:rPr>
              <a:t>GOAI  /  BOUNDLESS AGENTS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5120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7255E8"/>
                </a:solidFill>
                <a:latin typeface="Noto Sans CJK SC"/>
              </a:rPr>
              <a:t>09 / 开放贡献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14233B"/>
                </a:solidFill>
                <a:latin typeface="Noto Sans CJK SC"/>
              </a:rPr>
              <a:t>可运行、可复现、可复用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65392"/>
            <a:ext cx="110642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5D6B80"/>
                </a:solidFill>
                <a:latin typeface="Noto Sans CJK SC"/>
              </a:rPr>
              <a:t>智渔Agent 2.0  /  GOAI Boundless Agents                                     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627632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4233B"/>
                </a:solidFill>
                <a:latin typeface="Noto Sans CJK SC"/>
              </a:rPr>
              <a:t>评委拿到的不是一张概念图，而是一套可以从零启动、注入事件、观察数据流并复盘结果的工程。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2249424"/>
            <a:ext cx="4983480" cy="3072384"/>
          </a:xfrm>
          <a:prstGeom prst="roundRect">
            <a:avLst>
              <a:gd name="adj" fmla="val 12000"/>
            </a:avLst>
          </a:prstGeom>
          <a:solidFill>
            <a:srgbClr val="0B2A56"/>
          </a:solidFill>
          <a:ln w="10160">
            <a:solidFill>
              <a:srgbClr val="0B2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523744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Noto Sans CJK SC"/>
              </a:rPr>
              <a:t>从零启动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2999232"/>
            <a:ext cx="384048" cy="292608"/>
          </a:xfrm>
          <a:prstGeom prst="roundRect">
            <a:avLst>
              <a:gd name="adj" fmla="val 12000"/>
            </a:avLst>
          </a:prstGeom>
          <a:solidFill>
            <a:srgbClr val="26C6E6"/>
          </a:solidFill>
          <a:ln w="10160">
            <a:solidFill>
              <a:srgbClr val="26C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3031236"/>
            <a:ext cx="38404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 i="0">
                <a:solidFill>
                  <a:srgbClr val="0B2A56"/>
                </a:solidFill>
                <a:latin typeface="Noto Sans CJK SC"/>
              </a:rPr>
              <a:t>01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44752" y="2999232"/>
            <a:ext cx="3566160" cy="283464"/>
          </a:xfrm>
          <a:prstGeom prst="roundRect">
            <a:avLst>
              <a:gd name="adj" fmla="val 12000"/>
            </a:avLst>
          </a:prstGeom>
          <a:solidFill>
            <a:srgbClr val="163D70"/>
          </a:solidFill>
          <a:ln w="10160">
            <a:solidFill>
              <a:srgbClr val="2B61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09344" y="3054096"/>
            <a:ext cx="32461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Noto Sans Mono CJK SC"/>
              </a:rPr>
              <a:t>uv sync --extra agent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" y="3383279"/>
            <a:ext cx="384048" cy="292608"/>
          </a:xfrm>
          <a:prstGeom prst="roundRect">
            <a:avLst>
              <a:gd name="adj" fmla="val 12000"/>
            </a:avLst>
          </a:prstGeom>
          <a:solidFill>
            <a:srgbClr val="26C6E6"/>
          </a:solidFill>
          <a:ln w="10160">
            <a:solidFill>
              <a:srgbClr val="26C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3415284"/>
            <a:ext cx="38404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 i="0">
                <a:solidFill>
                  <a:srgbClr val="0B2A56"/>
                </a:solidFill>
                <a:latin typeface="Noto Sans CJK SC"/>
              </a:rPr>
              <a:t>02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444752" y="3383279"/>
            <a:ext cx="3566160" cy="283464"/>
          </a:xfrm>
          <a:prstGeom prst="roundRect">
            <a:avLst>
              <a:gd name="adj" fmla="val 12000"/>
            </a:avLst>
          </a:prstGeom>
          <a:solidFill>
            <a:srgbClr val="163D70"/>
          </a:solidFill>
          <a:ln w="10160">
            <a:solidFill>
              <a:srgbClr val="2B61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9344" y="3438144"/>
            <a:ext cx="32461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Noto Sans Mono CJK SC"/>
              </a:rPr>
              <a:t>docker compose up -d --build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6112" y="3767328"/>
            <a:ext cx="384048" cy="292608"/>
          </a:xfrm>
          <a:prstGeom prst="roundRect">
            <a:avLst>
              <a:gd name="adj" fmla="val 12000"/>
            </a:avLst>
          </a:prstGeom>
          <a:solidFill>
            <a:srgbClr val="26C6E6"/>
          </a:solidFill>
          <a:ln w="10160">
            <a:solidFill>
              <a:srgbClr val="26C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3799332"/>
            <a:ext cx="38404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 i="0">
                <a:solidFill>
                  <a:srgbClr val="0B2A56"/>
                </a:solidFill>
                <a:latin typeface="Noto Sans CJK SC"/>
              </a:rPr>
              <a:t>03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444752" y="3767328"/>
            <a:ext cx="3566160" cy="283464"/>
          </a:xfrm>
          <a:prstGeom prst="roundRect">
            <a:avLst>
              <a:gd name="adj" fmla="val 12000"/>
            </a:avLst>
          </a:prstGeom>
          <a:solidFill>
            <a:srgbClr val="163D70"/>
          </a:solidFill>
          <a:ln w="10160">
            <a:solidFill>
              <a:srgbClr val="2B61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09344" y="3822191"/>
            <a:ext cx="32461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Noto Sans Mono CJK SC"/>
              </a:rPr>
              <a:t>http://&lt;host&gt;:3000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6112" y="4151376"/>
            <a:ext cx="384048" cy="292608"/>
          </a:xfrm>
          <a:prstGeom prst="roundRect">
            <a:avLst>
              <a:gd name="adj" fmla="val 12000"/>
            </a:avLst>
          </a:prstGeom>
          <a:solidFill>
            <a:srgbClr val="26C6E6"/>
          </a:solidFill>
          <a:ln w="10160">
            <a:solidFill>
              <a:srgbClr val="26C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4183380"/>
            <a:ext cx="38404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 i="0">
                <a:solidFill>
                  <a:srgbClr val="0B2A56"/>
                </a:solidFill>
                <a:latin typeface="Noto Sans CJK SC"/>
              </a:rPr>
              <a:t>04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444752" y="4151376"/>
            <a:ext cx="3566160" cy="283464"/>
          </a:xfrm>
          <a:prstGeom prst="roundRect">
            <a:avLst>
              <a:gd name="adj" fmla="val 12000"/>
            </a:avLst>
          </a:prstGeom>
          <a:solidFill>
            <a:srgbClr val="163D70"/>
          </a:solidFill>
          <a:ln w="10160">
            <a:solidFill>
              <a:srgbClr val="2B61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609344" y="4206240"/>
            <a:ext cx="32461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Noto Sans Mono CJK SC"/>
              </a:rPr>
              <a:t>POST /api/v1/demo/success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6112" y="4535424"/>
            <a:ext cx="384048" cy="292608"/>
          </a:xfrm>
          <a:prstGeom prst="roundRect">
            <a:avLst>
              <a:gd name="adj" fmla="val 12000"/>
            </a:avLst>
          </a:prstGeom>
          <a:solidFill>
            <a:srgbClr val="26C6E6"/>
          </a:solidFill>
          <a:ln w="10160">
            <a:solidFill>
              <a:srgbClr val="26C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" y="4567428"/>
            <a:ext cx="38404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 i="0">
                <a:solidFill>
                  <a:srgbClr val="0B2A56"/>
                </a:solidFill>
                <a:latin typeface="Noto Sans CJK SC"/>
              </a:rPr>
              <a:t>05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444752" y="4535424"/>
            <a:ext cx="3566160" cy="283464"/>
          </a:xfrm>
          <a:prstGeom prst="roundRect">
            <a:avLst>
              <a:gd name="adj" fmla="val 12000"/>
            </a:avLst>
          </a:prstGeom>
          <a:solidFill>
            <a:srgbClr val="163D70"/>
          </a:solidFill>
          <a:ln w="10160">
            <a:solidFill>
              <a:srgbClr val="2B61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609344" y="4590288"/>
            <a:ext cx="32461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Noto Sans Mono CJK SC"/>
              </a:rPr>
              <a:t>uv run pytest -q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6112" y="5074920"/>
            <a:ext cx="4023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FD13D"/>
                </a:solidFill>
                <a:latin typeface="Noto Sans CJK SC"/>
              </a:rPr>
              <a:t>当前回归：104 passed, 2 skipped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897880" y="2249424"/>
            <a:ext cx="5696712" cy="30723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63056" y="2523744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4233B"/>
                </a:solidFill>
                <a:latin typeface="Noto Sans CJK SC"/>
              </a:rPr>
              <a:t>可以复用的开放组件</a:t>
            </a:r>
          </a:p>
        </p:txBody>
      </p:sp>
      <p:sp>
        <p:nvSpPr>
          <p:cNvPr id="32" name="Oval 31"/>
          <p:cNvSpPr/>
          <p:nvPr/>
        </p:nvSpPr>
        <p:spPr>
          <a:xfrm>
            <a:off x="6181344" y="3017520"/>
            <a:ext cx="228600" cy="228600"/>
          </a:xfrm>
          <a:prstGeom prst="ellipse">
            <a:avLst/>
          </a:prstGeom>
          <a:solidFill>
            <a:srgbClr val="0B66C3"/>
          </a:solidFill>
          <a:ln w="10160">
            <a:solidFill>
              <a:srgbClr val="0B66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65392" y="299923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80" b="1" i="0">
                <a:solidFill>
                  <a:srgbClr val="14233B"/>
                </a:solidFill>
                <a:latin typeface="Noto Sans CJK SC"/>
              </a:rPr>
              <a:t>Agent 运行时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73568" y="2999232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30" b="0" i="0">
                <a:solidFill>
                  <a:srgbClr val="5D6B80"/>
                </a:solidFill>
                <a:latin typeface="Noto Sans CJK SC"/>
              </a:rPr>
              <a:t>CrewAI Supervisor + 专职 Agent</a:t>
            </a:r>
          </a:p>
        </p:txBody>
      </p:sp>
      <p:sp>
        <p:nvSpPr>
          <p:cNvPr id="35" name="Oval 34"/>
          <p:cNvSpPr/>
          <p:nvPr/>
        </p:nvSpPr>
        <p:spPr>
          <a:xfrm>
            <a:off x="6181344" y="3438144"/>
            <a:ext cx="228600" cy="228600"/>
          </a:xfrm>
          <a:prstGeom prst="ellipse">
            <a:avLst/>
          </a:prstGeom>
          <a:solidFill>
            <a:srgbClr val="41D19A"/>
          </a:solidFill>
          <a:ln w="10160">
            <a:solidFill>
              <a:srgbClr val="41D1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65392" y="3419856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80" b="1" i="0">
                <a:solidFill>
                  <a:srgbClr val="14233B"/>
                </a:solidFill>
                <a:latin typeface="Noto Sans CJK SC"/>
              </a:rPr>
              <a:t>设备 Skill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73568" y="3419856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30" b="0" i="0">
                <a:solidFill>
                  <a:srgbClr val="5D6B80"/>
                </a:solidFill>
                <a:latin typeface="Noto Sans CJK SC"/>
              </a:rPr>
              <a:t>确定性 DeviceControlSkill + MQTT</a:t>
            </a:r>
          </a:p>
        </p:txBody>
      </p:sp>
      <p:sp>
        <p:nvSpPr>
          <p:cNvPr id="38" name="Oval 37"/>
          <p:cNvSpPr/>
          <p:nvPr/>
        </p:nvSpPr>
        <p:spPr>
          <a:xfrm>
            <a:off x="6181344" y="3858768"/>
            <a:ext cx="228600" cy="228600"/>
          </a:xfrm>
          <a:prstGeom prst="ellipse">
            <a:avLst/>
          </a:prstGeom>
          <a:solidFill>
            <a:srgbClr val="7255E8"/>
          </a:solidFill>
          <a:ln w="10160">
            <a:solidFill>
              <a:srgbClr val="725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65392" y="3840480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80" b="1" i="0">
                <a:solidFill>
                  <a:srgbClr val="14233B"/>
                </a:solidFill>
                <a:latin typeface="Noto Sans CJK SC"/>
              </a:rPr>
              <a:t>数据规格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73568" y="3840480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30" b="0" i="0">
                <a:solidFill>
                  <a:srgbClr val="5D6B80"/>
                </a:solidFill>
                <a:latin typeface="Noto Sans CJK SC"/>
              </a:rPr>
              <a:t>模拟传感器 / 摄像头 / 天气 / 知识库</a:t>
            </a:r>
          </a:p>
        </p:txBody>
      </p:sp>
      <p:sp>
        <p:nvSpPr>
          <p:cNvPr id="41" name="Oval 40"/>
          <p:cNvSpPr/>
          <p:nvPr/>
        </p:nvSpPr>
        <p:spPr>
          <a:xfrm>
            <a:off x="6181344" y="4279392"/>
            <a:ext cx="228600" cy="228600"/>
          </a:xfrm>
          <a:prstGeom prst="ellipse">
            <a:avLst/>
          </a:prstGeom>
          <a:solidFill>
            <a:srgbClr val="FF6B5E"/>
          </a:solidFill>
          <a:ln w="10160">
            <a:solidFill>
              <a:srgbClr val="FF6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65392" y="4261104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80" b="1" i="0">
                <a:solidFill>
                  <a:srgbClr val="14233B"/>
                </a:solidFill>
                <a:latin typeface="Noto Sans CJK SC"/>
              </a:rPr>
              <a:t>交付模板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973568" y="4261104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30" b="0" i="0">
                <a:solidFill>
                  <a:srgbClr val="5D6B80"/>
                </a:solidFill>
                <a:latin typeface="Noto Sans CJK SC"/>
              </a:rPr>
              <a:t>日报 HTML、审计、人工任务、运行轨迹</a:t>
            </a:r>
          </a:p>
        </p:txBody>
      </p:sp>
      <p:sp>
        <p:nvSpPr>
          <p:cNvPr id="44" name="Oval 43"/>
          <p:cNvSpPr/>
          <p:nvPr/>
        </p:nvSpPr>
        <p:spPr>
          <a:xfrm>
            <a:off x="6181344" y="4700016"/>
            <a:ext cx="228600" cy="228600"/>
          </a:xfrm>
          <a:prstGeom prst="ellipse">
            <a:avLst/>
          </a:prstGeom>
          <a:solidFill>
            <a:srgbClr val="FFD13D"/>
          </a:solidFill>
          <a:ln w="10160">
            <a:solidFill>
              <a:srgbClr val="FFD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65392" y="4681728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80" b="1" i="0">
                <a:solidFill>
                  <a:srgbClr val="14233B"/>
                </a:solidFill>
                <a:latin typeface="Noto Sans CJK SC"/>
              </a:rPr>
              <a:t>部署材料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973568" y="4681728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30" b="0" i="0">
                <a:solidFill>
                  <a:srgbClr val="5D6B80"/>
                </a:solidFill>
                <a:latin typeface="Noto Sans CJK SC"/>
              </a:rPr>
              <a:t>uv / Docker Compose / README / 测试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81344" y="5065776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0B66C3"/>
                </a:solidFill>
                <a:latin typeface="Noto Sans CJK SC"/>
              </a:rPr>
              <a:t>GitHub：github.com/simonliu009/fishagent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6556248"/>
            <a:ext cx="10698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5D6B80"/>
                </a:solidFill>
                <a:latin typeface="Noto Sans CJK SC"/>
              </a:rPr>
              <a:t>复赛 / 决赛需按组委会要求补充最终仓库、部署说明、许可证和第三方依赖清单。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4023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0B66C3"/>
                </a:solidFill>
                <a:latin typeface="Noto Sans CJK SC"/>
              </a:rPr>
              <a:t>GOAI  /  BOUNDLESS AGENTS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5120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7255E8"/>
                </a:solidFill>
                <a:latin typeface="Noto Sans CJK SC"/>
              </a:rPr>
              <a:t>10 / 现场演示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14233B"/>
                </a:solidFill>
                <a:latin typeface="Noto Sans CJK SC"/>
              </a:rPr>
              <a:t>给评委的 3 分钟现场 Demo 路径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65392"/>
            <a:ext cx="110642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5D6B80"/>
                </a:solidFill>
                <a:latin typeface="Noto Sans CJK SC"/>
              </a:rPr>
              <a:t>智渔Agent 2.0  /  GOAI Boundless Agents                                     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627632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4233B"/>
                </a:solidFill>
                <a:latin typeface="Noto Sans CJK SC"/>
              </a:rPr>
              <a:t>从正常态开始，注入一个可重复的低溶氧事件；每一步都能在页面、Agent 轨迹或审计中找到证据。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2286000"/>
            <a:ext cx="3401568" cy="1097280"/>
          </a:xfrm>
          <a:prstGeom prst="roundRect">
            <a:avLst>
              <a:gd name="adj" fmla="val 12000"/>
            </a:avLst>
          </a:prstGeom>
          <a:solidFill>
            <a:srgbClr val="EAF3FF"/>
          </a:solidFill>
          <a:ln w="10160">
            <a:solidFill>
              <a:srgbClr val="0B66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2468880"/>
            <a:ext cx="658368" cy="292608"/>
          </a:xfrm>
          <a:prstGeom prst="roundRect">
            <a:avLst>
              <a:gd name="adj" fmla="val 12000"/>
            </a:avLst>
          </a:prstGeom>
          <a:solidFill>
            <a:srgbClr val="0B66C3"/>
          </a:solidFill>
          <a:ln w="10160">
            <a:solidFill>
              <a:srgbClr val="0B66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500884"/>
            <a:ext cx="65836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Noto Sans CJK SC"/>
              </a:rPr>
              <a:t>00:00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55064" y="2459736"/>
            <a:ext cx="201168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4233B"/>
                </a:solidFill>
                <a:latin typeface="Noto Sans CJK SC"/>
              </a:rPr>
              <a:t>正常态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852928"/>
            <a:ext cx="292608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5D6B80"/>
                </a:solidFill>
                <a:latin typeface="Noto Sans CJK SC"/>
              </a:rPr>
              <a:t>4 个池塘均有最新读数
设备在线比例可见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2286000"/>
            <a:ext cx="3401568" cy="1097280"/>
          </a:xfrm>
          <a:prstGeom prst="roundRect">
            <a:avLst>
              <a:gd name="adj" fmla="val 12000"/>
            </a:avLst>
          </a:prstGeom>
          <a:solidFill>
            <a:srgbClr val="FFF0ED"/>
          </a:solidFill>
          <a:ln w="10160">
            <a:solidFill>
              <a:srgbClr val="FF6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36007" y="2468880"/>
            <a:ext cx="658368" cy="292608"/>
          </a:xfrm>
          <a:prstGeom prst="roundRect">
            <a:avLst>
              <a:gd name="adj" fmla="val 12000"/>
            </a:avLst>
          </a:prstGeom>
          <a:solidFill>
            <a:srgbClr val="FF6B5E"/>
          </a:solidFill>
          <a:ln w="10160">
            <a:solidFill>
              <a:srgbClr val="FF6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36007" y="2500884"/>
            <a:ext cx="65836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Noto Sans CJK SC"/>
              </a:rPr>
              <a:t>00:20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68112" y="2459736"/>
            <a:ext cx="201168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4233B"/>
                </a:solidFill>
                <a:latin typeface="Noto Sans CJK SC"/>
              </a:rPr>
              <a:t>注入低溶氧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6007" y="2852928"/>
            <a:ext cx="292608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5D6B80"/>
                </a:solidFill>
                <a:latin typeface="Noto Sans CJK SC"/>
              </a:rPr>
              <a:t>点击 Demo：B-01 DO 降至 2.8
页面中间出现注入反馈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47888" y="2286000"/>
            <a:ext cx="3401568" cy="1097280"/>
          </a:xfrm>
          <a:prstGeom prst="roundRect">
            <a:avLst>
              <a:gd name="adj" fmla="val 12000"/>
            </a:avLst>
          </a:prstGeom>
          <a:solidFill>
            <a:srgbClr val="EAF3FF"/>
          </a:solidFill>
          <a:ln w="10160">
            <a:solidFill>
              <a:srgbClr val="26C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449056" y="2468880"/>
            <a:ext cx="658368" cy="292608"/>
          </a:xfrm>
          <a:prstGeom prst="roundRect">
            <a:avLst>
              <a:gd name="adj" fmla="val 12000"/>
            </a:avLst>
          </a:prstGeom>
          <a:solidFill>
            <a:srgbClr val="26C6E6"/>
          </a:solidFill>
          <a:ln w="10160">
            <a:solidFill>
              <a:srgbClr val="26C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49056" y="2500884"/>
            <a:ext cx="65836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Noto Sans CJK SC"/>
              </a:rPr>
              <a:t>00:45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81159" y="2459736"/>
            <a:ext cx="201168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4233B"/>
                </a:solidFill>
                <a:latin typeface="Noto Sans CJK SC"/>
              </a:rPr>
              <a:t>触发逐塘巡检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49056" y="2852928"/>
            <a:ext cx="292608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5D6B80"/>
                </a:solidFill>
                <a:latin typeface="Noto Sans CJK SC"/>
              </a:rPr>
              <a:t>正在触发逐塘巡检…
主动请求 MQTT REPORT_NOW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" y="3703320"/>
            <a:ext cx="3401568" cy="1097280"/>
          </a:xfrm>
          <a:prstGeom prst="roundRect">
            <a:avLst>
              <a:gd name="adj" fmla="val 12000"/>
            </a:avLst>
          </a:prstGeom>
          <a:solidFill>
            <a:srgbClr val="F0EDFF"/>
          </a:solidFill>
          <a:ln w="10160">
            <a:solidFill>
              <a:srgbClr val="725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22960" y="3886200"/>
            <a:ext cx="658368" cy="292608"/>
          </a:xfrm>
          <a:prstGeom prst="roundRect">
            <a:avLst>
              <a:gd name="adj" fmla="val 12000"/>
            </a:avLst>
          </a:prstGeom>
          <a:solidFill>
            <a:srgbClr val="7255E8"/>
          </a:solidFill>
          <a:ln w="10160">
            <a:solidFill>
              <a:srgbClr val="725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3918204"/>
            <a:ext cx="65836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Noto Sans CJK SC"/>
              </a:rPr>
              <a:t>01:20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55064" y="3877056"/>
            <a:ext cx="201168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4233B"/>
                </a:solidFill>
                <a:latin typeface="Noto Sans CJK SC"/>
              </a:rPr>
              <a:t>Agent 决策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4270248"/>
            <a:ext cx="292608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5D6B80"/>
                </a:solidFill>
                <a:latin typeface="Noto Sans CJK SC"/>
              </a:rPr>
              <a:t>流式显示输入、回复、action
EXECUTE → Skill 校验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34840" y="3703320"/>
            <a:ext cx="3401568" cy="1097280"/>
          </a:xfrm>
          <a:prstGeom prst="roundRect">
            <a:avLst>
              <a:gd name="adj" fmla="val 12000"/>
            </a:avLst>
          </a:prstGeom>
          <a:solidFill>
            <a:srgbClr val="EAF9F3"/>
          </a:solidFill>
          <a:ln w="10160">
            <a:solidFill>
              <a:srgbClr val="41D1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636007" y="3886200"/>
            <a:ext cx="658368" cy="292608"/>
          </a:xfrm>
          <a:prstGeom prst="roundRect">
            <a:avLst>
              <a:gd name="adj" fmla="val 12000"/>
            </a:avLst>
          </a:prstGeom>
          <a:solidFill>
            <a:srgbClr val="41D19A"/>
          </a:solidFill>
          <a:ln w="10160">
            <a:solidFill>
              <a:srgbClr val="41D1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36007" y="3918204"/>
            <a:ext cx="65836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Noto Sans CJK SC"/>
              </a:rPr>
              <a:t>01:50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68112" y="3877056"/>
            <a:ext cx="201168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4233B"/>
                </a:solidFill>
                <a:latin typeface="Noto Sans CJK SC"/>
              </a:rPr>
              <a:t>设备与告警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36007" y="4270248"/>
            <a:ext cx="292608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5D6B80"/>
                </a:solidFill>
                <a:latin typeface="Noto Sans CJK SC"/>
              </a:rPr>
              <a:t>发布 MQTT 控制
告警流程逐步显示执行结果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47888" y="3703320"/>
            <a:ext cx="3401568" cy="1097280"/>
          </a:xfrm>
          <a:prstGeom prst="roundRect">
            <a:avLst>
              <a:gd name="adj" fmla="val 12000"/>
            </a:avLst>
          </a:prstGeom>
          <a:solidFill>
            <a:srgbClr val="FFF8DF"/>
          </a:solidFill>
          <a:ln w="10160">
            <a:solidFill>
              <a:srgbClr val="FFD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449056" y="3886200"/>
            <a:ext cx="658368" cy="292608"/>
          </a:xfrm>
          <a:prstGeom prst="roundRect">
            <a:avLst>
              <a:gd name="adj" fmla="val 12000"/>
            </a:avLst>
          </a:prstGeom>
          <a:solidFill>
            <a:srgbClr val="FFD13D"/>
          </a:solidFill>
          <a:ln w="10160">
            <a:solidFill>
              <a:srgbClr val="FFD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49056" y="3918204"/>
            <a:ext cx="65836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 i="0">
                <a:solidFill>
                  <a:srgbClr val="0B2A56"/>
                </a:solidFill>
                <a:latin typeface="Noto Sans CJK SC"/>
              </a:rPr>
              <a:t>02:30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81159" y="3877056"/>
            <a:ext cx="201168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4233B"/>
                </a:solidFill>
                <a:latin typeface="Noto Sans CJK SC"/>
              </a:rPr>
              <a:t>复核与交付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49056" y="4270248"/>
            <a:ext cx="292608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5D6B80"/>
                </a:solidFill>
                <a:latin typeface="Noto Sans CJK SC"/>
              </a:rPr>
              <a:t>下一次巡塘更新复核
生成日报 / 聊天查询状态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1792" y="5376672"/>
            <a:ext cx="7040880" cy="6217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9536" y="5559552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4233B"/>
                </a:solidFill>
                <a:latin typeface="Noto Sans CJK SC"/>
              </a:rPr>
              <a:t>现场入口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783080" y="5559552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0B66C3"/>
                </a:solidFill>
                <a:latin typeface="Noto Sans Mono CJK SC"/>
              </a:rPr>
              <a:t>http://&lt;评审可访问主机&gt;:3000   ·   账号 / 密码 / 录屏地址：待补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909560" y="5376672"/>
            <a:ext cx="3685032" cy="621792"/>
          </a:xfrm>
          <a:prstGeom prst="roundRect">
            <a:avLst>
              <a:gd name="adj" fmla="val 12000"/>
            </a:avLst>
          </a:prstGeom>
          <a:solidFill>
            <a:srgbClr val="FFF0ED"/>
          </a:solidFill>
          <a:ln w="10160">
            <a:solidFill>
              <a:srgbClr val="FF6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56448" y="5559552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FF6B5E"/>
                </a:solidFill>
                <a:latin typeface="Noto Sans CJK SC"/>
              </a:rPr>
              <a:t>失败分支也要演示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46920" y="5559552"/>
            <a:ext cx="1645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4233B"/>
                </a:solidFill>
                <a:latin typeface="Noto Sans CJK SC"/>
              </a:rPr>
              <a:t>设备失败 → 人工任务 + 原因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6556248"/>
            <a:ext cx="10698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5D6B80"/>
                </a:solidFill>
                <a:latin typeface="Noto Sans CJK SC"/>
              </a:rPr>
              <a:t>演示入口与账号属于最终交付信息，当前保留占位符，避免把本地环境地址误当成比赛访问地址。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4023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0B66C3"/>
                </a:solidFill>
                <a:latin typeface="Noto Sans CJK SC"/>
              </a:rPr>
              <a:t>GOAI  /  BOUNDLESS AGENTS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5120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7255E8"/>
                </a:solidFill>
                <a:latin typeface="Noto Sans CJK SC"/>
              </a:rPr>
              <a:t>11 / 评审对照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14233B"/>
                </a:solidFill>
                <a:latin typeface="Noto Sans CJK SC"/>
              </a:rPr>
              <a:t>用证据回答评委的评分表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65392"/>
            <a:ext cx="110642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5D6B80"/>
                </a:solidFill>
                <a:latin typeface="Noto Sans CJK SC"/>
              </a:rPr>
              <a:t>智渔Agent 2.0  /  GOAI Boundless Agents                                     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627632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4233B"/>
                </a:solidFill>
                <a:latin typeface="Noto Sans CJK SC"/>
              </a:rPr>
              <a:t>每个评分维度对应一个可点击、可运行或可复盘的证据，不用技术名词堆叠替代结果。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2240280"/>
            <a:ext cx="1417320" cy="384048"/>
          </a:xfrm>
          <a:prstGeom prst="rect">
            <a:avLst/>
          </a:prstGeom>
          <a:solidFill>
            <a:srgbClr val="0B2A56"/>
          </a:solidFill>
          <a:ln w="10160">
            <a:solidFill>
              <a:srgbClr val="0B2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" y="2350008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Noto Sans CJK SC"/>
              </a:rPr>
              <a:t>评审维度</a:t>
            </a:r>
          </a:p>
        </p:txBody>
      </p:sp>
      <p:sp>
        <p:nvSpPr>
          <p:cNvPr id="9" name="Rectangle 8"/>
          <p:cNvSpPr/>
          <p:nvPr/>
        </p:nvSpPr>
        <p:spPr>
          <a:xfrm>
            <a:off x="2267712" y="2240280"/>
            <a:ext cx="2999232" cy="384048"/>
          </a:xfrm>
          <a:prstGeom prst="rect">
            <a:avLst/>
          </a:prstGeom>
          <a:solidFill>
            <a:srgbClr val="0B2A56"/>
          </a:solidFill>
          <a:ln w="10160">
            <a:solidFill>
              <a:srgbClr val="0B2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40864" y="2350008"/>
            <a:ext cx="2852927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Noto Sans CJK SC"/>
              </a:rPr>
              <a:t>我们展示什么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0" y="2240280"/>
            <a:ext cx="2697480" cy="384048"/>
          </a:xfrm>
          <a:prstGeom prst="rect">
            <a:avLst/>
          </a:prstGeom>
          <a:solidFill>
            <a:srgbClr val="0B2A56"/>
          </a:solidFill>
          <a:ln w="10160">
            <a:solidFill>
              <a:srgbClr val="0B2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59552" y="2350008"/>
            <a:ext cx="255117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Noto Sans CJK SC"/>
              </a:rPr>
              <a:t>当前工程证据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30768" y="2240280"/>
            <a:ext cx="3163824" cy="384048"/>
          </a:xfrm>
          <a:prstGeom prst="rect">
            <a:avLst/>
          </a:prstGeom>
          <a:solidFill>
            <a:srgbClr val="0B2A56"/>
          </a:solidFill>
          <a:ln w="10160">
            <a:solidFill>
              <a:srgbClr val="0B2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0" y="2350008"/>
            <a:ext cx="30175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Noto Sans CJK SC"/>
              </a:rPr>
              <a:t>封版前补齐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" y="2624328"/>
            <a:ext cx="1417320" cy="557784"/>
          </a:xfrm>
          <a:prstGeom prst="rect">
            <a:avLst/>
          </a:prstGeom>
          <a:solidFill>
            <a:srgbClr val="FFFFFF"/>
          </a:solidFill>
          <a:ln w="10160"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2724912"/>
            <a:ext cx="12344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9" b="1" i="0">
                <a:solidFill>
                  <a:srgbClr val="14233B"/>
                </a:solidFill>
                <a:latin typeface="Noto Sans CJK SC"/>
              </a:rPr>
              <a:t>行业场景价值 25%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67712" y="2624328"/>
            <a:ext cx="2999232" cy="557784"/>
          </a:xfrm>
          <a:prstGeom prst="rect">
            <a:avLst/>
          </a:prstGeom>
          <a:solidFill>
            <a:srgbClr val="FFFFFF"/>
          </a:solidFill>
          <a:ln w="10160"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359152" y="2724912"/>
            <a:ext cx="2816351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9" b="0" i="0">
                <a:solidFill>
                  <a:srgbClr val="5D6B80"/>
                </a:solidFill>
                <a:latin typeface="Noto Sans CJK SC"/>
              </a:rPr>
              <a:t>低溶氧处置、设备离线、人工接管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0" y="2624328"/>
            <a:ext cx="2697480" cy="557784"/>
          </a:xfrm>
          <a:prstGeom prst="rect">
            <a:avLst/>
          </a:prstGeom>
          <a:solidFill>
            <a:srgbClr val="FFFFFF"/>
          </a:solidFill>
          <a:ln w="10160"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77840" y="2724912"/>
            <a:ext cx="25146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9" b="0" i="0">
                <a:solidFill>
                  <a:srgbClr val="5D6B80"/>
                </a:solidFill>
                <a:latin typeface="Noto Sans CJK SC"/>
              </a:rPr>
              <a:t>四池塘 / 28 设备 / 7 指标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430768" y="2624328"/>
            <a:ext cx="3163824" cy="557784"/>
          </a:xfrm>
          <a:prstGeom prst="rect">
            <a:avLst/>
          </a:prstGeom>
          <a:solidFill>
            <a:srgbClr val="FFFFFF"/>
          </a:solidFill>
          <a:ln w="10160"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22208" y="2724912"/>
            <a:ext cx="2980944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9" b="0" i="0">
                <a:solidFill>
                  <a:srgbClr val="FF6B5E"/>
                </a:solidFill>
                <a:latin typeface="Noto Sans CJK SC"/>
              </a:rPr>
              <a:t>□ 真实试点收益数据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" y="3182112"/>
            <a:ext cx="1417320" cy="557784"/>
          </a:xfrm>
          <a:prstGeom prst="rect">
            <a:avLst/>
          </a:prstGeom>
          <a:solidFill>
            <a:srgbClr val="EEF3F9"/>
          </a:solidFill>
          <a:ln w="10160"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" y="3282696"/>
            <a:ext cx="12344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9" b="1" i="0">
                <a:solidFill>
                  <a:srgbClr val="14233B"/>
                </a:solidFill>
                <a:latin typeface="Noto Sans CJK SC"/>
              </a:rPr>
              <a:t>Agent 闭环 25%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67712" y="3182112"/>
            <a:ext cx="2999232" cy="557784"/>
          </a:xfrm>
          <a:prstGeom prst="rect">
            <a:avLst/>
          </a:prstGeom>
          <a:solidFill>
            <a:srgbClr val="EEF3F9"/>
          </a:solidFill>
          <a:ln w="10160"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359152" y="3282696"/>
            <a:ext cx="2816351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9" b="0" i="0">
                <a:solidFill>
                  <a:srgbClr val="5D6B80"/>
                </a:solidFill>
                <a:latin typeface="Noto Sans CJK SC"/>
              </a:rPr>
              <a:t>理解 → 规划 → 工具 → 执行 → 复核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0" y="3182112"/>
            <a:ext cx="2697480" cy="557784"/>
          </a:xfrm>
          <a:prstGeom prst="rect">
            <a:avLst/>
          </a:prstGeom>
          <a:solidFill>
            <a:srgbClr val="EEF3F9"/>
          </a:solidFill>
          <a:ln w="10160"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577840" y="3282696"/>
            <a:ext cx="25146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9" b="0" i="0">
                <a:solidFill>
                  <a:srgbClr val="5D6B80"/>
                </a:solidFill>
                <a:latin typeface="Noto Sans CJK SC"/>
              </a:rPr>
              <a:t>CrewAI + Skill + MQTT + verification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430768" y="3182112"/>
            <a:ext cx="3163824" cy="557784"/>
          </a:xfrm>
          <a:prstGeom prst="rect">
            <a:avLst/>
          </a:prstGeom>
          <a:solidFill>
            <a:srgbClr val="EEF3F9"/>
          </a:solidFill>
          <a:ln w="10160"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22208" y="3282696"/>
            <a:ext cx="2980944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9" b="0" i="0">
                <a:solidFill>
                  <a:srgbClr val="FF6B5E"/>
                </a:solidFill>
                <a:latin typeface="Noto Sans CJK SC"/>
              </a:rPr>
              <a:t>□ 现场操作确认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" y="3739896"/>
            <a:ext cx="1417320" cy="557784"/>
          </a:xfrm>
          <a:prstGeom prst="rect">
            <a:avLst/>
          </a:prstGeom>
          <a:solidFill>
            <a:srgbClr val="FFFFFF"/>
          </a:solidFill>
          <a:ln w="10160"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3232" y="3840480"/>
            <a:ext cx="12344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9" b="1" i="0">
                <a:solidFill>
                  <a:srgbClr val="14233B"/>
                </a:solidFill>
                <a:latin typeface="Noto Sans CJK SC"/>
              </a:rPr>
              <a:t>产品体验 20%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267712" y="3739896"/>
            <a:ext cx="2999232" cy="557784"/>
          </a:xfrm>
          <a:prstGeom prst="rect">
            <a:avLst/>
          </a:prstGeom>
          <a:solidFill>
            <a:srgbClr val="FFFFFF"/>
          </a:solidFill>
          <a:ln w="10160"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359152" y="3840480"/>
            <a:ext cx="2816351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9" b="0" i="0">
                <a:solidFill>
                  <a:srgbClr val="5D6B80"/>
                </a:solidFill>
                <a:latin typeface="Noto Sans CJK SC"/>
              </a:rPr>
              <a:t>告警、聊天、轨迹、报告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0" y="3739896"/>
            <a:ext cx="2697480" cy="557784"/>
          </a:xfrm>
          <a:prstGeom prst="rect">
            <a:avLst/>
          </a:prstGeom>
          <a:solidFill>
            <a:srgbClr val="FFFFFF"/>
          </a:solidFill>
          <a:ln w="10160"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577840" y="3840480"/>
            <a:ext cx="25146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9" b="0" i="0">
                <a:solidFill>
                  <a:srgbClr val="5D6B80"/>
                </a:solidFill>
                <a:latin typeface="Noto Sans CJK SC"/>
              </a:rPr>
              <a:t>可运行 Web + 流式数据流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430768" y="3739896"/>
            <a:ext cx="3163824" cy="557784"/>
          </a:xfrm>
          <a:prstGeom prst="rect">
            <a:avLst/>
          </a:prstGeom>
          <a:solidFill>
            <a:srgbClr val="FFFFFF"/>
          </a:solidFill>
          <a:ln w="10160"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22208" y="3840480"/>
            <a:ext cx="2980944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9" b="0" i="0">
                <a:solidFill>
                  <a:srgbClr val="FF6B5E"/>
                </a:solidFill>
                <a:latin typeface="Noto Sans CJK SC"/>
              </a:rPr>
              <a:t>□ Demo 录屏链接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1792" y="4297680"/>
            <a:ext cx="1417320" cy="557784"/>
          </a:xfrm>
          <a:prstGeom prst="rect">
            <a:avLst/>
          </a:prstGeom>
          <a:solidFill>
            <a:srgbClr val="EEF3F9"/>
          </a:solidFill>
          <a:ln w="10160"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13232" y="4398264"/>
            <a:ext cx="12344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9" b="1" i="0">
                <a:solidFill>
                  <a:srgbClr val="14233B"/>
                </a:solidFill>
                <a:latin typeface="Noto Sans CJK SC"/>
              </a:rPr>
              <a:t>技术深度 15%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267712" y="4297680"/>
            <a:ext cx="2999232" cy="557784"/>
          </a:xfrm>
          <a:prstGeom prst="rect">
            <a:avLst/>
          </a:prstGeom>
          <a:solidFill>
            <a:srgbClr val="EEF3F9"/>
          </a:solidFill>
          <a:ln w="10160"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359152" y="4398264"/>
            <a:ext cx="2816351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9" b="0" i="0">
                <a:solidFill>
                  <a:srgbClr val="5D6B80"/>
                </a:solidFill>
                <a:latin typeface="Noto Sans CJK SC"/>
              </a:rPr>
              <a:t>多模态、RAG、调度、持久化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0" y="4297680"/>
            <a:ext cx="2697480" cy="557784"/>
          </a:xfrm>
          <a:prstGeom prst="rect">
            <a:avLst/>
          </a:prstGeom>
          <a:solidFill>
            <a:srgbClr val="EEF3F9"/>
          </a:solidFill>
          <a:ln w="10160"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577840" y="4398264"/>
            <a:ext cx="25146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9" b="0" i="0">
                <a:solidFill>
                  <a:srgbClr val="5D6B80"/>
                </a:solidFill>
                <a:latin typeface="Noto Sans CJK SC"/>
              </a:rPr>
              <a:t>Docker / Postgres / Redis / MinIO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30768" y="4297680"/>
            <a:ext cx="3163824" cy="557784"/>
          </a:xfrm>
          <a:prstGeom prst="rect">
            <a:avLst/>
          </a:prstGeom>
          <a:solidFill>
            <a:srgbClr val="EEF3F9"/>
          </a:solidFill>
          <a:ln w="10160"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522208" y="4398264"/>
            <a:ext cx="2980944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9" b="0" i="0">
                <a:solidFill>
                  <a:srgbClr val="FF6B5E"/>
                </a:solidFill>
                <a:latin typeface="Noto Sans CJK SC"/>
              </a:rPr>
              <a:t>□ 性能与模型成本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1792" y="4855464"/>
            <a:ext cx="1417320" cy="557784"/>
          </a:xfrm>
          <a:prstGeom prst="rect">
            <a:avLst/>
          </a:prstGeom>
          <a:solidFill>
            <a:srgbClr val="FFFFFF"/>
          </a:solidFill>
          <a:ln w="10160"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13232" y="4956048"/>
            <a:ext cx="12344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9" b="1" i="0">
                <a:solidFill>
                  <a:srgbClr val="14233B"/>
                </a:solidFill>
                <a:latin typeface="Noto Sans CJK SC"/>
              </a:rPr>
              <a:t>安全合规 10%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267712" y="4855464"/>
            <a:ext cx="2999232" cy="557784"/>
          </a:xfrm>
          <a:prstGeom prst="rect">
            <a:avLst/>
          </a:prstGeom>
          <a:solidFill>
            <a:srgbClr val="FFFFFF"/>
          </a:solidFill>
          <a:ln w="10160"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359152" y="4956048"/>
            <a:ext cx="2816351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9" b="0" i="0">
                <a:solidFill>
                  <a:srgbClr val="5D6B80"/>
                </a:solidFill>
                <a:latin typeface="Noto Sans CJK SC"/>
              </a:rPr>
              <a:t>风险分级、策略门、人工任务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486400" y="4855464"/>
            <a:ext cx="2697480" cy="557784"/>
          </a:xfrm>
          <a:prstGeom prst="rect">
            <a:avLst/>
          </a:prstGeom>
          <a:solidFill>
            <a:srgbClr val="FFFFFF"/>
          </a:solidFill>
          <a:ln w="10160"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577840" y="4956048"/>
            <a:ext cx="25146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9" b="0" i="0">
                <a:solidFill>
                  <a:srgbClr val="5D6B80"/>
                </a:solidFill>
                <a:latin typeface="Noto Sans CJK SC"/>
              </a:rPr>
              <a:t>模拟数据 / 审计 / 失败分流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30768" y="4855464"/>
            <a:ext cx="3163824" cy="557784"/>
          </a:xfrm>
          <a:prstGeom prst="rect">
            <a:avLst/>
          </a:prstGeom>
          <a:solidFill>
            <a:srgbClr val="FFFFFF"/>
          </a:solidFill>
          <a:ln w="10160"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522208" y="4956048"/>
            <a:ext cx="2980944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9" b="0" i="0">
                <a:solidFill>
                  <a:srgbClr val="FF6B5E"/>
                </a:solidFill>
                <a:latin typeface="Noto Sans CJK SC"/>
              </a:rPr>
              <a:t>□ 授权与依赖清单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21792" y="5413248"/>
            <a:ext cx="1417320" cy="557784"/>
          </a:xfrm>
          <a:prstGeom prst="rect">
            <a:avLst/>
          </a:prstGeom>
          <a:solidFill>
            <a:srgbClr val="EEF3F9"/>
          </a:solidFill>
          <a:ln w="10160"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13232" y="5513832"/>
            <a:ext cx="12344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9" b="1" i="0">
                <a:solidFill>
                  <a:srgbClr val="14233B"/>
                </a:solidFill>
                <a:latin typeface="Noto Sans CJK SC"/>
              </a:rPr>
              <a:t>开放复用 5%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267712" y="5413248"/>
            <a:ext cx="2999232" cy="557784"/>
          </a:xfrm>
          <a:prstGeom prst="rect">
            <a:avLst/>
          </a:prstGeom>
          <a:solidFill>
            <a:srgbClr val="EEF3F9"/>
          </a:solidFill>
          <a:ln w="10160"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359152" y="5513832"/>
            <a:ext cx="2816351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9" b="0" i="0">
                <a:solidFill>
                  <a:srgbClr val="5D6B80"/>
                </a:solidFill>
                <a:latin typeface="Noto Sans CJK SC"/>
              </a:rPr>
              <a:t>组件、规格、文档、部署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486400" y="5413248"/>
            <a:ext cx="2697480" cy="557784"/>
          </a:xfrm>
          <a:prstGeom prst="rect">
            <a:avLst/>
          </a:prstGeom>
          <a:solidFill>
            <a:srgbClr val="EEF3F9"/>
          </a:solidFill>
          <a:ln w="10160"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577840" y="5513832"/>
            <a:ext cx="25146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9" b="0" i="0">
                <a:solidFill>
                  <a:srgbClr val="5D6B80"/>
                </a:solidFill>
                <a:latin typeface="Noto Sans CJK SC"/>
              </a:rPr>
              <a:t>GitHub + README + 测试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430768" y="5413248"/>
            <a:ext cx="3163824" cy="557784"/>
          </a:xfrm>
          <a:prstGeom prst="rect">
            <a:avLst/>
          </a:prstGeom>
          <a:solidFill>
            <a:srgbClr val="EEF3F9"/>
          </a:solidFill>
          <a:ln w="10160"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522208" y="5513832"/>
            <a:ext cx="2980944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9" b="0" i="0">
                <a:solidFill>
                  <a:srgbClr val="FF6B5E"/>
                </a:solidFill>
                <a:latin typeface="Noto Sans CJK SC"/>
              </a:rPr>
              <a:t>□ License / 贡献指南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21792" y="6080760"/>
            <a:ext cx="10972800" cy="310896"/>
          </a:xfrm>
          <a:prstGeom prst="roundRect">
            <a:avLst>
              <a:gd name="adj" fmla="val 12000"/>
            </a:avLst>
          </a:prstGeom>
          <a:solidFill>
            <a:srgbClr val="FFF8DF"/>
          </a:solidFill>
          <a:ln w="10160">
            <a:solidFill>
              <a:srgbClr val="FFD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41248" y="6163056"/>
            <a:ext cx="105156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 i="0">
                <a:solidFill>
                  <a:srgbClr val="14233B"/>
                </a:solidFill>
                <a:latin typeface="Noto Sans CJK SC"/>
              </a:rPr>
              <a:t>红线意识：PPT 只能说明方案，Demo、日志、视频和可复现工程才是最终验证。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A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57032" y="758952"/>
            <a:ext cx="64008" cy="64008"/>
          </a:xfrm>
          <a:prstGeom prst="ellipse">
            <a:avLst/>
          </a:prstGeom>
          <a:solidFill>
            <a:srgbClr val="26C6E6"/>
          </a:solidFill>
          <a:ln w="10160">
            <a:solidFill>
              <a:srgbClr val="26C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60459" y="1036929"/>
            <a:ext cx="137160" cy="137160"/>
          </a:xfrm>
          <a:prstGeom prst="ellipse">
            <a:avLst/>
          </a:prstGeom>
          <a:solidFill>
            <a:srgbClr val="41D19A"/>
          </a:solidFill>
          <a:ln w="10160">
            <a:solidFill>
              <a:srgbClr val="41D1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72369" y="515721"/>
            <a:ext cx="73152" cy="73152"/>
          </a:xfrm>
          <a:prstGeom prst="ellipse">
            <a:avLst/>
          </a:prstGeom>
          <a:solidFill>
            <a:srgbClr val="FFD13D"/>
          </a:solidFill>
          <a:ln w="10160">
            <a:solidFill>
              <a:srgbClr val="FFD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758830" y="967435"/>
            <a:ext cx="182880" cy="182880"/>
          </a:xfrm>
          <a:prstGeom prst="ellipse">
            <a:avLst/>
          </a:prstGeom>
          <a:solidFill>
            <a:srgbClr val="FF6B5E"/>
          </a:solidFill>
          <a:ln w="10160">
            <a:solidFill>
              <a:srgbClr val="FF6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465515" y="1870862"/>
            <a:ext cx="182880" cy="182880"/>
          </a:xfrm>
          <a:prstGeom prst="ellipse">
            <a:avLst/>
          </a:prstGeom>
          <a:solidFill>
            <a:srgbClr val="7255E8"/>
          </a:solidFill>
          <a:ln w="10160">
            <a:solidFill>
              <a:srgbClr val="725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577425" y="1801368"/>
            <a:ext cx="100584" cy="100584"/>
          </a:xfrm>
          <a:prstGeom prst="ellipse">
            <a:avLst/>
          </a:prstGeom>
          <a:solidFill>
            <a:srgbClr val="0B66C3"/>
          </a:solidFill>
          <a:ln w="10160">
            <a:solidFill>
              <a:srgbClr val="0B66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550347" y="1731873"/>
            <a:ext cx="128016" cy="128016"/>
          </a:xfrm>
          <a:prstGeom prst="ellipse">
            <a:avLst/>
          </a:prstGeom>
          <a:solidFill>
            <a:srgbClr val="26C6E6"/>
          </a:solidFill>
          <a:ln w="10160">
            <a:solidFill>
              <a:srgbClr val="26C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967313" y="2287828"/>
            <a:ext cx="73152" cy="73152"/>
          </a:xfrm>
          <a:prstGeom prst="ellipse">
            <a:avLst/>
          </a:prstGeom>
          <a:solidFill>
            <a:srgbClr val="41D19A"/>
          </a:solidFill>
          <a:ln w="10160">
            <a:solidFill>
              <a:srgbClr val="41D1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882481" y="2774289"/>
            <a:ext cx="82296" cy="82296"/>
          </a:xfrm>
          <a:prstGeom prst="ellipse">
            <a:avLst/>
          </a:prstGeom>
          <a:solidFill>
            <a:srgbClr val="FFD13D"/>
          </a:solidFill>
          <a:ln w="10160">
            <a:solidFill>
              <a:srgbClr val="FFD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820656" y="2913278"/>
            <a:ext cx="201168" cy="201168"/>
          </a:xfrm>
          <a:prstGeom prst="ellipse">
            <a:avLst/>
          </a:prstGeom>
          <a:solidFill>
            <a:srgbClr val="FF6B5E"/>
          </a:solidFill>
          <a:ln w="10160">
            <a:solidFill>
              <a:srgbClr val="FF6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619841" y="2982772"/>
            <a:ext cx="91440" cy="91440"/>
          </a:xfrm>
          <a:prstGeom prst="ellipse">
            <a:avLst/>
          </a:prstGeom>
          <a:solidFill>
            <a:srgbClr val="7255E8"/>
          </a:solidFill>
          <a:ln w="10160">
            <a:solidFill>
              <a:srgbClr val="725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326526" y="3469233"/>
            <a:ext cx="146304" cy="146304"/>
          </a:xfrm>
          <a:prstGeom prst="ellipse">
            <a:avLst/>
          </a:prstGeom>
          <a:solidFill>
            <a:srgbClr val="0B66C3"/>
          </a:solidFill>
          <a:ln w="10160">
            <a:solidFill>
              <a:srgbClr val="0B66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goai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384048"/>
            <a:ext cx="1207008" cy="4114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58368" y="658368"/>
            <a:ext cx="5943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D13D"/>
                </a:solidFill>
                <a:latin typeface="Noto Sans CJK SC"/>
              </a:rPr>
              <a:t>封版前，只补齐四件事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1207008"/>
            <a:ext cx="649224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Noto Sans CJK SC"/>
              </a:rPr>
              <a:t>让一个可运行 Demo
变成评委记得住的作品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2743200"/>
            <a:ext cx="3520440" cy="868680"/>
          </a:xfrm>
          <a:prstGeom prst="roundRect">
            <a:avLst>
              <a:gd name="adj" fmla="val 12000"/>
            </a:avLst>
          </a:prstGeom>
          <a:solidFill>
            <a:srgbClr val="143A6B"/>
          </a:solidFill>
          <a:ln w="10160">
            <a:solidFill>
              <a:srgbClr val="2C6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59536" y="2999232"/>
            <a:ext cx="438912" cy="292608"/>
          </a:xfrm>
          <a:prstGeom prst="roundRect">
            <a:avLst>
              <a:gd name="adj" fmla="val 12000"/>
            </a:avLst>
          </a:prstGeom>
          <a:solidFill>
            <a:srgbClr val="26C6E6"/>
          </a:solidFill>
          <a:ln w="10160">
            <a:solidFill>
              <a:srgbClr val="26C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" y="3031236"/>
            <a:ext cx="43891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 i="0">
                <a:solidFill>
                  <a:srgbClr val="0B2A56"/>
                </a:solidFill>
                <a:latin typeface="Noto Sans CJK SC"/>
              </a:rPr>
              <a:t>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1328" y="2926080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Noto Sans CJK SC"/>
              </a:rPr>
              <a:t>团队与作者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1328" y="3200400"/>
            <a:ext cx="2423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0" b="0" i="0">
                <a:solidFill>
                  <a:srgbClr val="B8CAE0"/>
                </a:solidFill>
                <a:latin typeface="Noto Sans CJK SC"/>
              </a:rPr>
              <a:t>团队名称、成员、分工、联系方式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36007" y="2743200"/>
            <a:ext cx="3520440" cy="868680"/>
          </a:xfrm>
          <a:prstGeom prst="roundRect">
            <a:avLst>
              <a:gd name="adj" fmla="val 12000"/>
            </a:avLst>
          </a:prstGeom>
          <a:solidFill>
            <a:srgbClr val="143A6B"/>
          </a:solidFill>
          <a:ln w="10160">
            <a:solidFill>
              <a:srgbClr val="2C6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837175" y="2999232"/>
            <a:ext cx="438912" cy="292608"/>
          </a:xfrm>
          <a:prstGeom prst="roundRect">
            <a:avLst>
              <a:gd name="adj" fmla="val 12000"/>
            </a:avLst>
          </a:prstGeom>
          <a:solidFill>
            <a:srgbClr val="26C6E6"/>
          </a:solidFill>
          <a:ln w="10160">
            <a:solidFill>
              <a:srgbClr val="26C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37175" y="3031236"/>
            <a:ext cx="43891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 i="0">
                <a:solidFill>
                  <a:srgbClr val="0B2A56"/>
                </a:solidFill>
                <a:latin typeface="Noto Sans CJK SC"/>
              </a:rPr>
              <a:t>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58968" y="2926080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Noto Sans CJK SC"/>
              </a:rPr>
              <a:t>真实价值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58968" y="3200400"/>
            <a:ext cx="2423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0" b="0" i="0">
                <a:solidFill>
                  <a:srgbClr val="B8CAE0"/>
                </a:solidFill>
                <a:latin typeface="Noto Sans CJK SC"/>
              </a:rPr>
              <a:t>试点对象、收益指标、失败案例与边界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3886200"/>
            <a:ext cx="3520440" cy="868680"/>
          </a:xfrm>
          <a:prstGeom prst="roundRect">
            <a:avLst>
              <a:gd name="adj" fmla="val 12000"/>
            </a:avLst>
          </a:prstGeom>
          <a:solidFill>
            <a:srgbClr val="143A6B"/>
          </a:solidFill>
          <a:ln w="10160">
            <a:solidFill>
              <a:srgbClr val="2C6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59536" y="4142232"/>
            <a:ext cx="438912" cy="292608"/>
          </a:xfrm>
          <a:prstGeom prst="roundRect">
            <a:avLst>
              <a:gd name="adj" fmla="val 12000"/>
            </a:avLst>
          </a:prstGeom>
          <a:solidFill>
            <a:srgbClr val="26C6E6"/>
          </a:solidFill>
          <a:ln w="10160">
            <a:solidFill>
              <a:srgbClr val="26C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9536" y="4174236"/>
            <a:ext cx="43891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 i="0">
                <a:solidFill>
                  <a:srgbClr val="0B2A56"/>
                </a:solidFill>
                <a:latin typeface="Noto Sans CJK SC"/>
              </a:rPr>
              <a:t>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81328" y="4069080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Noto Sans CJK SC"/>
              </a:rPr>
              <a:t>现场证据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81328" y="4343400"/>
            <a:ext cx="2423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0" b="0" i="0">
                <a:solidFill>
                  <a:srgbClr val="B8CAE0"/>
                </a:solidFill>
                <a:latin typeface="Noto Sans CJK SC"/>
              </a:rPr>
              <a:t>Demo 视频、访问地址、演示账号、运行记录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636007" y="3886200"/>
            <a:ext cx="3520440" cy="868680"/>
          </a:xfrm>
          <a:prstGeom prst="roundRect">
            <a:avLst>
              <a:gd name="adj" fmla="val 12000"/>
            </a:avLst>
          </a:prstGeom>
          <a:solidFill>
            <a:srgbClr val="143A6B"/>
          </a:solidFill>
          <a:ln w="10160">
            <a:solidFill>
              <a:srgbClr val="2C6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837175" y="4142232"/>
            <a:ext cx="438912" cy="292608"/>
          </a:xfrm>
          <a:prstGeom prst="roundRect">
            <a:avLst>
              <a:gd name="adj" fmla="val 12000"/>
            </a:avLst>
          </a:prstGeom>
          <a:solidFill>
            <a:srgbClr val="26C6E6"/>
          </a:solidFill>
          <a:ln w="10160">
            <a:solidFill>
              <a:srgbClr val="26C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837175" y="4174236"/>
            <a:ext cx="43891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 i="0">
                <a:solidFill>
                  <a:srgbClr val="0B2A56"/>
                </a:solidFill>
                <a:latin typeface="Noto Sans CJK SC"/>
              </a:rPr>
              <a:t>04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58968" y="4069080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Noto Sans CJK SC"/>
              </a:rPr>
              <a:t>开放材料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58968" y="4343400"/>
            <a:ext cx="2423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0" b="0" i="0">
                <a:solidFill>
                  <a:srgbClr val="B8CAE0"/>
                </a:solidFill>
                <a:latin typeface="Noto Sans CJK SC"/>
              </a:rPr>
              <a:t>最终仓库、License、依赖与数据说明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5596128"/>
            <a:ext cx="8046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6C6E6"/>
                </a:solidFill>
                <a:latin typeface="Noto Sans CJK SC"/>
              </a:rPr>
              <a:t>智渔Agent 2.0 = 养殖场的感知、决策、执行、复核协同层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053328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Noto Sans CJK SC"/>
              </a:rPr>
              <a:t>谢谢 / Q&amp;A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6537960"/>
            <a:ext cx="76809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B8CAE0"/>
                </a:solidFill>
                <a:latin typeface="Noto Sans CJK SC"/>
              </a:rPr>
              <a:t>参赛材料依据：GOAI 无界应用｜Boundless Agents 参赛手册；官网：goaihz.com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