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44968" y="1234440"/>
            <a:ext cx="64008" cy="64008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2364" y="1636776"/>
            <a:ext cx="137160" cy="1371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37622" y="882396"/>
            <a:ext cx="73152" cy="73152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9297" y="1536192"/>
            <a:ext cx="182880" cy="18288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02828" y="2843784"/>
            <a:ext cx="182880" cy="18288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78086" y="2743200"/>
            <a:ext cx="100584" cy="10058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81436" y="2642615"/>
            <a:ext cx="128016" cy="128016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97158" y="3447288"/>
            <a:ext cx="73152" cy="73152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18550" y="4151376"/>
            <a:ext cx="82296" cy="82296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78924" y="4352544"/>
            <a:ext cx="201168" cy="201168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67390" y="4453128"/>
            <a:ext cx="91440" cy="9144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830921" y="5157216"/>
            <a:ext cx="146304" cy="14630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a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320040"/>
            <a:ext cx="1325880" cy="448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669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D13D"/>
                </a:solidFill>
                <a:latin typeface="Noto Sans CJK SC"/>
              </a:rPr>
              <a:t>GOAI 无界应用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234440"/>
            <a:ext cx="676656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Noto Sans CJK SC"/>
              </a:rPr>
              <a:t>智渔Agent 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103120"/>
            <a:ext cx="6309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6C6E6"/>
                </a:solidFill>
                <a:latin typeface="Noto Sans CJK SC"/>
              </a:rPr>
              <a:t>面向水产养殖的可验证闭环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788920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4E5F7"/>
                </a:solidFill>
                <a:latin typeface="Noto Sans CJK SC"/>
              </a:rPr>
              <a:t>把感知变成决策，把决策变成动作，把动作变成可验证结果。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" y="3703320"/>
            <a:ext cx="1965960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735324"/>
            <a:ext cx="19659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Boundless Agents 赛道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61488" y="3703320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3735324"/>
            <a:ext cx="141732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真实行业场景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703320"/>
            <a:ext cx="1234440" cy="292608"/>
          </a:xfrm>
          <a:prstGeom prst="roundRect">
            <a:avLst>
              <a:gd name="adj" fmla="val 12000"/>
            </a:avLst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5968" y="3735324"/>
            <a:ext cx="1234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可运行 Demo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754880"/>
            <a:ext cx="51206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956048"/>
            <a:ext cx="47091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Noto Sans CJK SC"/>
              </a:rPr>
              <a:t>参赛团队：__________   成员：__________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285232"/>
            <a:ext cx="42062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8CAE0"/>
                </a:solidFill>
                <a:latin typeface="Noto Sans CJK SC"/>
              </a:rPr>
              <a:t>决赛路演版 ·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897880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Noto Sans CJK SC"/>
              </a:rPr>
              <a:t>评委先看闭环，再看技术。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6236208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FD13D"/>
                </a:solidFill>
                <a:latin typeface="Noto Sans CJK SC"/>
              </a:rPr>
              <a:t>可运行 · 可演示 · 可复制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01 / 项目定位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先给评委一个可验证的答案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4592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智渔Agent不是把聊天框接到传感器上，而是把养殖异常变成一条可追溯、可复核、可交接的任务链。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2240280"/>
            <a:ext cx="54864" cy="960120"/>
          </a:xfrm>
          <a:prstGeom prst="rect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66C3"/>
                </a:solidFill>
                <a:latin typeface="Noto Sans CJK S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养殖池塘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B-01 至 B-04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07208" y="2240280"/>
            <a:ext cx="54864" cy="960120"/>
          </a:xfrm>
          <a:prstGeom prst="rect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41D19A"/>
                </a:solidFill>
                <a:latin typeface="Noto Sans CJK SC"/>
              </a:rPr>
              <a:t>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模拟设备总数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正常 28/28 · 故障 Demo 27/28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2624" y="2240280"/>
            <a:ext cx="54864" cy="960120"/>
          </a:xfrm>
          <a:prstGeom prst="rect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7216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255E8"/>
                </a:solidFill>
                <a:latin typeface="Noto Sans CJK SC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核心传感器指标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水质全量巡检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8040" y="2240280"/>
            <a:ext cx="20574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78040" y="2240280"/>
            <a:ext cx="54864" cy="960120"/>
          </a:xfrm>
          <a:prstGeom prst="rect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42631" y="2386584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6B5E"/>
                </a:solidFill>
                <a:latin typeface="Noto Sans CJK SC"/>
              </a:rPr>
              <a:t>MQTT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1" y="2761488"/>
            <a:ext cx="17830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设备消息总线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1" y="2962656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上报与下发统一走消息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2240280"/>
            <a:ext cx="2194560" cy="96012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5480" y="2395728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6B5E"/>
                </a:solidFill>
                <a:latin typeface="Noto Sans CJK SC"/>
              </a:rPr>
              <a:t>1 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276148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33B"/>
                </a:solidFill>
                <a:latin typeface="Noto Sans CJK SC"/>
              </a:rPr>
              <a:t>完整任务闭环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971800"/>
            <a:ext cx="1783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5D6B80"/>
                </a:solidFill>
                <a:latin typeface="Noto Sans CJK SC"/>
              </a:rPr>
              <a:t>告警 → 决策 → 执行 → 复核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3566160"/>
            <a:ext cx="4800600" cy="2267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3803904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与 GOAI 赛道定位的交集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224528"/>
            <a:ext cx="4206240" cy="1325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真实行业：水产养殖异常处置，而非泛问答</a:t>
            </a:r>
          </a:p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多轮交互：聊天、主动巡塘、告警复核相互衔接</a:t>
            </a:r>
          </a:p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工具调用：知识库、天气、MQTT、报告交付</a:t>
            </a:r>
          </a:p>
          <a:p>
            <a:pPr>
              <a:spcAft>
                <a:spcPts val="400"/>
              </a:spcAft>
              <a:defRPr sz="1150">
                <a:solidFill>
                  <a:srgbClr val="14233B"/>
                </a:solidFill>
                <a:latin typeface="Noto Sans CJK SC"/>
              </a:defRPr>
            </a:pPr>
            <a:r>
              <a:t>·  多模态：传感器 + 水面 / 水下图像 + 天气上下文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0" y="3566160"/>
            <a:ext cx="5897880" cy="2267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25312" y="380390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按手册 10.1 逐项准备证据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25312" y="4224528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行业场景价值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4224528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25%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3568" y="4224528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低溶氧、设备离线、人工接管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25312" y="4471416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Agent 能力与任务闭环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4471416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25%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73568" y="4471416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结构化决策 + Skill + 复核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25312" y="4718304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产品体验与 Demo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2360" y="4718304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20%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73568" y="4718304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页面、流式轨迹、告警流程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25312" y="4965192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技术实现深度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4965192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15%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4965192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CrewAI / MQTT / 持久化 / 测试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25312" y="5212080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安全合规与可追溯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2360" y="5212080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10%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73568" y="5212080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策略门、人工任务、审计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25312" y="5458968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4233B"/>
                </a:solidFill>
                <a:latin typeface="Noto Sans CJK SC"/>
              </a:rPr>
              <a:t>开放 / 复用贡献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5458968"/>
            <a:ext cx="43891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0B66C3"/>
                </a:solidFill>
                <a:latin typeface="Noto Sans CJK SC"/>
              </a:rPr>
              <a:t>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73568" y="5458968"/>
            <a:ext cx="3246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5D6B80"/>
                </a:solidFill>
                <a:latin typeface="Noto Sans CJK SC"/>
              </a:rPr>
              <a:t>代码、文档、模拟数据规格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依据：GOAI《无界应用｜Boundless Agents 参赛手册》10.1 通用评审维度；官网：goaihz.com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02 / 行业价值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真实场景：异常处置不是一句建议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典型场景：夜间或无人值守时，B-01 溶解氧跌破安全线；养殖户要在风险扩大前完成判断、动作和复核，而不是只收到一条告警。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3474720" cy="120700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87168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养殖户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0824" y="250545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B66C3"/>
                </a:solidFill>
                <a:latin typeface="Noto Sans CJK SC"/>
              </a:rPr>
              <a:t>关心损失与收益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620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D6B80"/>
                </a:solidFill>
                <a:latin typeface="Noto Sans CJK SC"/>
              </a:rPr>
              <a:t>少死鱼、少误操作、少熬夜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474720" cy="120700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2487168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现场操作员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3872" y="250545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41D19A"/>
                </a:solidFill>
                <a:latin typeface="Noto Sans CJK SC"/>
              </a:rPr>
              <a:t>关心动作与交接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28620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D6B80"/>
                </a:solidFill>
                <a:latin typeface="Noto Sans CJK SC"/>
              </a:rPr>
              <a:t>任务清楚、失败可接管、结果可复核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7888" y="2286000"/>
            <a:ext cx="3474720" cy="120700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9056" y="2487168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管理者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19" y="250545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D13D"/>
                </a:solidFill>
                <a:latin typeface="Noto Sans CJK SC"/>
              </a:rPr>
              <a:t>关心证据与复制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8620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D6B80"/>
                </a:solidFill>
                <a:latin typeface="Noto Sans CJK SC"/>
              </a:rPr>
              <a:t>趋势、审计、报告、跨池塘复用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77639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D6B80"/>
                </a:solidFill>
                <a:latin typeface="Noto Sans CJK SC"/>
              </a:rPr>
              <a:t>传统流程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传感器报警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10128" y="4087368"/>
            <a:ext cx="310896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70332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人工判断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84648" y="4087368"/>
            <a:ext cx="310896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57784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打电话找人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059168" y="4087368"/>
            <a:ext cx="310895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452359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59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打开设备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33688" y="4087368"/>
            <a:ext cx="310896" cy="0"/>
          </a:xfrm>
          <a:prstGeom prst="line">
            <a:avLst/>
          </a:prstGeom>
          <a:ln w="19050">
            <a:solidFill>
              <a:srgbClr val="D7E1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326880" y="384048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398678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D6B80"/>
                </a:solidFill>
                <a:latin typeface="Noto Sans CJK SC"/>
              </a:rPr>
              <a:t>等待结果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80060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B66C3"/>
                </a:solidFill>
                <a:latin typeface="Noto Sans CJK SC"/>
              </a:rPr>
              <a:t>智渔Agent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2880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主动取数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310128" y="4910328"/>
            <a:ext cx="310896" cy="0"/>
          </a:xfrm>
          <a:prstGeom prst="line">
            <a:avLst/>
          </a:prstGeom>
          <a:ln w="1905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70332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0332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Agent 研判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184648" y="4910328"/>
            <a:ext cx="310896" cy="0"/>
          </a:xfrm>
          <a:prstGeom prst="line">
            <a:avLst/>
          </a:prstGeom>
          <a:ln w="1905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57784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7784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Skill 校验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59168" y="4910328"/>
            <a:ext cx="310895" cy="0"/>
          </a:xfrm>
          <a:prstGeom prst="line">
            <a:avLst/>
          </a:prstGeom>
          <a:ln w="1905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452359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52359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MQTT 执行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933688" y="4910328"/>
            <a:ext cx="310896" cy="0"/>
          </a:xfrm>
          <a:prstGeom prst="line">
            <a:avLst/>
          </a:prstGeom>
          <a:ln w="1905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326880" y="4663440"/>
            <a:ext cx="1463040" cy="493776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0" y="48097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延时复核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" y="5596128"/>
            <a:ext cx="10972800" cy="384048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687568"/>
            <a:ext cx="10561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Noto Sans CJK SC"/>
              </a:rPr>
              <a:t>关键差异：模型负责理解与决策，Skill 负责可行性，MQTT 负责设备边界，复核 Agent 负责判断处置是否真的生效。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03 / AGENT 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一个完整闭环：以 B-01 低溶氧为例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示例输入：B-01 溶解氧 2.8 mg/L，安全下限 4.0 mg/L。系统不止报错，而是把处理过程跑完。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15568" y="2487168"/>
            <a:ext cx="384048" cy="384048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任务输入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MQTT 传感器
DO 2.8 mg/L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3044952"/>
            <a:ext cx="182880" cy="0"/>
          </a:xfrm>
          <a:prstGeom prst="line">
            <a:avLst/>
          </a:prstGeom>
          <a:ln w="1778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249424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43200" y="2487168"/>
            <a:ext cx="384048" cy="384048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意图理解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0864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sensor-monitor
确认新鲜读数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39312" y="3044952"/>
            <a:ext cx="182879" cy="0"/>
          </a:xfrm>
          <a:prstGeom prst="line">
            <a:avLst/>
          </a:prstGeom>
          <a:ln w="17780">
            <a:solidFill>
              <a:srgbClr val="26C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77056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70832" y="2487168"/>
            <a:ext cx="384048" cy="384048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任务规划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8496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action-planning
形成 action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66944" y="3044952"/>
            <a:ext cx="182880" cy="0"/>
          </a:xfrm>
          <a:prstGeom prst="line">
            <a:avLst/>
          </a:prstGeom>
          <a:ln w="17780">
            <a:solidFill>
              <a:srgbClr val="725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504688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98464" y="2487168"/>
            <a:ext cx="384048" cy="384048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98464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6127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Skill 校验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7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能力 / 风险 /
幂等 / 健康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94575" y="3044952"/>
            <a:ext cx="182880" cy="0"/>
          </a:xfrm>
          <a:prstGeom prst="line">
            <a:avLst/>
          </a:prstGeom>
          <a:ln w="17780">
            <a:solidFill>
              <a:srgbClr val="FFD1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132320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26096" y="2487168"/>
            <a:ext cx="384048" cy="384048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6096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59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设备执行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59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execution-agent
调用设备 Skill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22208" y="3044952"/>
            <a:ext cx="182880" cy="0"/>
          </a:xfrm>
          <a:prstGeom prst="line">
            <a:avLst/>
          </a:prstGeom>
          <a:ln w="1778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759952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253728" y="2487168"/>
            <a:ext cx="384048" cy="384048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53728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51392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延时复核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verification-agent
等待复核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149840" y="3044952"/>
            <a:ext cx="182880" cy="0"/>
          </a:xfrm>
          <a:prstGeom prst="line">
            <a:avLst/>
          </a:prstGeom>
          <a:ln w="17780">
            <a:solidFill>
              <a:srgbClr val="FF6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0387584" y="2331720"/>
            <a:ext cx="1371600" cy="1426464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881359" y="2487168"/>
            <a:ext cx="384048" cy="384048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81359" y="2578608"/>
            <a:ext cx="3840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Noto Sans CJK SC"/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79024" y="29900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4233B"/>
                </a:solidFill>
                <a:latin typeface="Noto Sans CJK SC"/>
              </a:rPr>
              <a:t>结果交付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9024" y="3273552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5D6B80"/>
                </a:solidFill>
                <a:latin typeface="Noto Sans CJK SC"/>
              </a:rPr>
              <a:t>关闭告警 /
人工接管 / 报告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" y="4133087"/>
            <a:ext cx="5120640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37083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1D19A"/>
                </a:solidFill>
                <a:latin typeface="Noto Sans CJK SC"/>
              </a:rPr>
              <a:t>自动处置成功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75488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4233B"/>
                </a:solidFill>
                <a:latin typeface="Noto Sans CJK SC"/>
              </a:rPr>
              <a:t>增氧机开启 → 经过复核周期 → DO 达到恢复阈值 → 发送停机 → 事件关闭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680" y="5084064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5116068"/>
            <a:ext cx="10789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RESOLVED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03120" y="5129784"/>
            <a:ext cx="3200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处置结果、复核时间、设备回执均进入审计与日报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16752" y="4133087"/>
            <a:ext cx="5577840" cy="129844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72784" y="4370832"/>
            <a:ext cx="2331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6B5E"/>
                </a:solidFill>
                <a:latin typeface="Noto Sans CJK SC"/>
              </a:rPr>
              <a:t>自动动作失败怎么办？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72784" y="4736592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4233B"/>
                </a:solidFill>
                <a:latin typeface="Noto Sans CJK SC"/>
              </a:rPr>
              <a:t>设备不健康 / MQTT 无回执 / 模型输出无效 / 超时 → 不硬写设备，转人工任务并保留失败原因。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72784" y="5084064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72784" y="5116068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MANUAL_REQUIRED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92440" y="5129784"/>
            <a:ext cx="2560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这条分支也是闭环的一部分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示例使用模拟传感器与本地 MQTT Broker；恢复阈值与复核周期可配置，演示不连接真实生产设备。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04 / 技术深度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Agent 如何真正做动作：设备写入有边界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4233B"/>
                </a:solidFill>
                <a:latin typeface="Noto Sans CJK SC"/>
              </a:rPr>
              <a:t>大模型不直接改设备状态。它只产生结构化决策，确定性 Skill 再决定这条动作是否可执行。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3218688" cy="333756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54203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66C3"/>
                </a:solidFill>
                <a:latin typeface="Noto Sans CJK SC"/>
              </a:rPr>
              <a:t>大模型决策输出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88036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只展示业务必要字段，不暴露 API Key、供应商路由等配置。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" y="3474720"/>
            <a:ext cx="2706624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9DD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3657600"/>
            <a:ext cx="23317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4233B"/>
                </a:solidFill>
                <a:latin typeface="Noto Sans Mono CJK SC"/>
              </a:rPr>
              <a:t>{
  "action": "EXECUTE",
  "device_id": "aerator-b01-1",
  "target_state": "on",
  "risk": "L1",
  "verification_delay": 300
}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3931920"/>
            <a:ext cx="393192" cy="0"/>
          </a:xfrm>
          <a:prstGeom prst="line">
            <a:avLst/>
          </a:prstGeom>
          <a:ln w="2794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70832" y="2286000"/>
            <a:ext cx="3218688" cy="333756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254203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DeviceControlSkill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072384"/>
            <a:ext cx="2578608" cy="13533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动作白名单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设备能力与健康状态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风险等级与审批规则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幂等键与超时</a:t>
            </a:r>
          </a:p>
          <a:p>
            <a:pPr>
              <a:spcAft>
                <a:spcPts val="400"/>
              </a:spcAft>
              <a:defRPr sz="1050">
                <a:solidFill>
                  <a:srgbClr val="14233B"/>
                </a:solidFill>
                <a:latin typeface="Noto Sans CJK SC"/>
              </a:defRPr>
            </a:pPr>
            <a:r>
              <a:t>·  失败原因分流人工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6864" y="4828032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4860036"/>
            <a:ext cx="10789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允许 → 发布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33872" y="4828032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3872" y="4860036"/>
            <a:ext cx="107899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拒绝 → 人工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80960" y="3931920"/>
            <a:ext cx="384048" cy="0"/>
          </a:xfrm>
          <a:prstGeom prst="line">
            <a:avLst/>
          </a:prstGeom>
          <a:ln w="27940">
            <a:solidFill>
              <a:srgbClr val="FFD1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19872" y="2286000"/>
            <a:ext cx="3447288" cy="3337560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254203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MQTT 设备边界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303580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D6B80"/>
                </a:solidFill>
                <a:latin typeface="Noto Sans CJK SC"/>
              </a:rPr>
              <a:t>发布主题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75904" y="3273552"/>
            <a:ext cx="28346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5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22208" y="3438144"/>
            <a:ext cx="25420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14233B"/>
                </a:solidFill>
                <a:latin typeface="Noto Sans Mono CJK SC"/>
              </a:rPr>
              <a:t>fishagent/ponds/B-01/devices/aerator-b01-1/commands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402336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D6B80"/>
                </a:solidFill>
                <a:latin typeface="Noto Sans CJK SC"/>
              </a:rPr>
              <a:t>回执与状态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75904" y="4279392"/>
            <a:ext cx="28346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5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8" y="4370832"/>
            <a:ext cx="25420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33B"/>
                </a:solidFill>
                <a:latin typeface="Noto Sans CJK SC"/>
              </a:rPr>
              <a:t>命令：开启增氧机
回执：ACKNOWLEDGED
状态：shadow_state = 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代码对应：fishagent.agent_runtime.skills.device_control.DeviceControlSkill；动作发布与模拟设备均通过 MQTT。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05 / 多模态能力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多模态不是装饰：异常事实要被交叉验证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当传感器读数不可信或异常原因不唯一时，Agent 将图像、天气、知识库和设备状态合并成可解释证据。</a:t>
            </a:r>
          </a:p>
        </p:txBody>
      </p:sp>
      <p:pic>
        <p:nvPicPr>
          <p:cNvPr id="7" name="Picture 6" descr="b01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12848"/>
            <a:ext cx="3063240" cy="1920240"/>
          </a:xfrm>
          <a:prstGeom prst="rect">
            <a:avLst/>
          </a:prstGeom>
        </p:spPr>
      </p:pic>
      <p:pic>
        <p:nvPicPr>
          <p:cNvPr id="8" name="Picture 7" descr="b01-underwa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2212848"/>
            <a:ext cx="3063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420624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4233B"/>
                </a:solidFill>
                <a:latin typeface="Noto Sans CJK SC"/>
              </a:rPr>
              <a:t>水面摄像头 · 浮头 / 水面状态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420624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4233B"/>
                </a:solidFill>
                <a:latin typeface="Noto Sans CJK SC"/>
              </a:rPr>
              <a:t>水下摄像头 · 鱼群活动 / 体表观察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4032" y="2212848"/>
            <a:ext cx="4480560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8352" y="246888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证据融合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8352" y="2889504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2921508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传感器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935224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DO 2.8 mg/L / 质量 GOOD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88352" y="3227832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2" y="3259836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天气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3273552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低气压 / 降雨前兆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88352" y="356616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8352" y="359816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3611880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低氧处置参考与风险提示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8352" y="3904487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3936491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设备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3950207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增氧机健康 / 在线状态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4032" y="4645152"/>
            <a:ext cx="4480560" cy="960120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88352" y="48554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6B5E"/>
                </a:solidFill>
                <a:latin typeface="Noto Sans CJK SC"/>
              </a:rPr>
              <a:t>安全分流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4800600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4233B"/>
                </a:solidFill>
                <a:latin typeface="Noto Sans CJK SC"/>
              </a:rPr>
              <a:t>传感器 SUSPECT / 设备不健康 / 高风险判断 → 不自动确诊，不自动投药，创建详细人工任务。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图片为演示环境的模拟摄像头样例；未使用真实养殖户个人信息或生产现场视频。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06 / 可演示产品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产品体验：评委可以从页面验证每一步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07</a:t>
            </a:r>
          </a:p>
        </p:txBody>
      </p:sp>
      <p:pic>
        <p:nvPicPr>
          <p:cNvPr id="6" name="Picture 5" descr="fishagent-monitor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27632"/>
            <a:ext cx="7333488" cy="46451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21792" y="1627632"/>
            <a:ext cx="7333488" cy="4645152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75320" y="1682496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85048" y="1810512"/>
            <a:ext cx="365760" cy="365760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8" y="185623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2248" y="1773936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主动巡塘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2248" y="1993392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先向传感器发布 REPORT_NOW，再分析这批新鲜数据。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5048" y="2615184"/>
            <a:ext cx="365760" cy="365760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66090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2248" y="2578608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水质监控面板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2248" y="2798064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异常来源高亮，所有 7 个指标可逐池塘查看。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3291840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85048" y="3419856"/>
            <a:ext cx="365760" cy="36576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8" y="346557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3383280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悬浮告警胶囊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3602736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活跃告警固定在左侧，点击进入告警流程。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20" y="4096512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85048" y="4224528"/>
            <a:ext cx="365760" cy="3657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427024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4187952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Agent 执行中心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42248" y="4407408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展示待处理、进行中、已完成，而不是静态流程图。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901184"/>
            <a:ext cx="3246120" cy="658368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85048" y="5029200"/>
            <a:ext cx="365760" cy="36576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5048" y="50749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2248" y="4992624"/>
            <a:ext cx="2569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聊天与报告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2248" y="5212080"/>
            <a:ext cx="25694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对话可查询快照，日报可下载独立 HTML。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截图：本地运行实例 http://127.0.0.1:3000；此图为正常基线，故显示 28/28，故障 Demo 注入后会显示 27/28。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07 / 可验证材料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核心功能有证据：页面、接口、日志和报告彼此对得上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评委可以从真实运行快照、报告预览、HTTP 接口和回归测试四个层面复核同一条任务链。</a:t>
            </a:r>
          </a:p>
        </p:txBody>
      </p:sp>
      <p:pic>
        <p:nvPicPr>
          <p:cNvPr id="7" name="Picture 6" descr="fishagent-reports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176272"/>
            <a:ext cx="6949440" cy="4343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82127" y="2212848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91855" y="2340864"/>
            <a:ext cx="365760" cy="365760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1855" y="23865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49055" y="2304288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真实报告正文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5" y="2523744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趋势图来自当前快照，不是 PPT 绘制的示意图。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7" y="3017520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91855" y="3145536"/>
            <a:ext cx="365760" cy="3657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5" y="31912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5" y="3108960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自动日报与交付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5" y="3328415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每日 23:59 自动生成；历史版本、下载 HTML、删除报告均有页面入口。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3822191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91855" y="3950207"/>
            <a:ext cx="365760" cy="365760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1855" y="399592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5" y="3913631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接口可复现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5" y="4133087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Demo、Agent steps、MQTT 命令、报告均有 HTTP API。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4626864"/>
            <a:ext cx="3639312" cy="65836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91855" y="4754879"/>
            <a:ext cx="365760" cy="36576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91855" y="480060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5" y="4718303"/>
            <a:ext cx="29626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测试可回归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5" y="4937759"/>
            <a:ext cx="2962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D6B80"/>
                </a:solidFill>
                <a:latin typeface="Noto Sans CJK SC"/>
              </a:rPr>
              <a:t>当前工程回归：106 passed，2 skipped；另有 ruff 检查。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82127" y="5532120"/>
            <a:ext cx="3639312" cy="621792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1583" y="56418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FFFFFF"/>
                </a:solidFill>
                <a:latin typeface="Noto Sans Mono CJK SC"/>
              </a:rPr>
              <a:t>复现入口：POST /api/v1/demo/success
交付入口：GET /api/v1/reports/{id}/download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截图：当前本地运行实例；报告包含真实快照趋势图、告警、自动操作、人工任务和设备操作日志。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08 / 工程架构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模型、Agent 与工具接口：谁负责什么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系统把每一次输入、模型消息、决策、Skill 调用、设备回执和复核结果写入可观察轨迹。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感知层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传感器 / 摄像头 / 天气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11680" y="2953512"/>
            <a:ext cx="182880" cy="0"/>
          </a:xfrm>
          <a:prstGeom prst="line">
            <a:avLst/>
          </a:prstGeom>
          <a:ln w="19050">
            <a:solidFill>
              <a:srgbClr val="0B6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49424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9152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消息层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9152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本地 MQTT Broker
上报 + 控制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39312" y="2953512"/>
            <a:ext cx="182879" cy="0"/>
          </a:xfrm>
          <a:prstGeom prst="line">
            <a:avLst/>
          </a:prstGeom>
          <a:ln w="19050">
            <a:solidFill>
              <a:srgbClr val="26C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77056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6784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Agent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6784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CrewAI Supervisor
专职 Agent 协作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66944" y="2953512"/>
            <a:ext cx="182880" cy="0"/>
          </a:xfrm>
          <a:prstGeom prst="line">
            <a:avLst/>
          </a:prstGeom>
          <a:ln w="19050">
            <a:solidFill>
              <a:srgbClr val="725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504688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14416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工具层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RAG / Weather /
DeviceControlSkill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94575" y="2953512"/>
            <a:ext cx="182880" cy="0"/>
          </a:xfrm>
          <a:prstGeom prst="line">
            <a:avLst/>
          </a:prstGeom>
          <a:ln w="19050">
            <a:solidFill>
              <a:srgbClr val="FFD1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32320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2048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执行层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MQTT 控制消息
模拟设备回执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522208" y="2953512"/>
            <a:ext cx="182880" cy="0"/>
          </a:xfrm>
          <a:prstGeom prst="line">
            <a:avLst/>
          </a:prstGeom>
          <a:ln w="19050">
            <a:solidFill>
              <a:srgbClr val="41D1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759952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验证层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主动巡塘 / 复核
告警状态更新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149840" y="2953512"/>
            <a:ext cx="182880" cy="0"/>
          </a:xfrm>
          <a:prstGeom prst="line">
            <a:avLst/>
          </a:prstGeom>
          <a:ln w="19050">
            <a:solidFill>
              <a:srgbClr val="FF6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387584" y="2267712"/>
            <a:ext cx="1371600" cy="1389888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97311" y="2514600"/>
            <a:ext cx="1152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33B"/>
                </a:solidFill>
                <a:latin typeface="Noto Sans CJK SC"/>
              </a:rPr>
              <a:t>交付层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97311" y="2889504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9" b="0" i="0">
                <a:solidFill>
                  <a:srgbClr val="5D6B80"/>
                </a:solidFill>
                <a:latin typeface="Noto Sans CJK SC"/>
              </a:rPr>
              <a:t>页面 / 聊天 / 日报
审计与人工任务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" y="3950208"/>
            <a:ext cx="6446520" cy="18470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7824" y="417880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Agent 角色分工</a:t>
            </a:r>
          </a:p>
        </p:txBody>
      </p:sp>
      <p:sp>
        <p:nvSpPr>
          <p:cNvPr id="36" name="Oval 35"/>
          <p:cNvSpPr/>
          <p:nvPr/>
        </p:nvSpPr>
        <p:spPr>
          <a:xfrm>
            <a:off x="896112" y="4517136"/>
            <a:ext cx="146304" cy="146304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4498848"/>
            <a:ext cx="2057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 i="0">
                <a:solidFill>
                  <a:srgbClr val="14233B"/>
                </a:solidFill>
                <a:latin typeface="Noto Sans Mono CJK SC"/>
              </a:rPr>
              <a:t>supervisor-agent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0128" y="4498848"/>
            <a:ext cx="3337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校验触发目标，委派 Agent，汇总模型结果</a:t>
            </a:r>
          </a:p>
        </p:txBody>
      </p:sp>
      <p:sp>
        <p:nvSpPr>
          <p:cNvPr id="39" name="Oval 38"/>
          <p:cNvSpPr/>
          <p:nvPr/>
        </p:nvSpPr>
        <p:spPr>
          <a:xfrm>
            <a:off x="896112" y="4764023"/>
            <a:ext cx="146304" cy="14630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745736"/>
            <a:ext cx="2057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 i="0">
                <a:solidFill>
                  <a:srgbClr val="14233B"/>
                </a:solidFill>
                <a:latin typeface="Noto Sans Mono CJK SC"/>
              </a:rPr>
              <a:t>sensor-monitor-agent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4745736"/>
            <a:ext cx="3337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请求 REPORT_NOW，读取池塘新鲜快照</a:t>
            </a:r>
          </a:p>
        </p:txBody>
      </p:sp>
      <p:sp>
        <p:nvSpPr>
          <p:cNvPr id="42" name="Oval 41"/>
          <p:cNvSpPr/>
          <p:nvPr/>
        </p:nvSpPr>
        <p:spPr>
          <a:xfrm>
            <a:off x="896112" y="5010912"/>
            <a:ext cx="146304" cy="146304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4992624"/>
            <a:ext cx="2057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 i="0">
                <a:solidFill>
                  <a:srgbClr val="14233B"/>
                </a:solidFill>
                <a:latin typeface="Noto Sans Mono CJK SC"/>
              </a:rPr>
              <a:t>patrol-analysis-agent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10128" y="4992624"/>
            <a:ext cx="3337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分析水质、设备影子、天气与活跃告警</a:t>
            </a:r>
          </a:p>
        </p:txBody>
      </p:sp>
      <p:sp>
        <p:nvSpPr>
          <p:cNvPr id="45" name="Oval 44"/>
          <p:cNvSpPr/>
          <p:nvPr/>
        </p:nvSpPr>
        <p:spPr>
          <a:xfrm>
            <a:off x="896112" y="5257800"/>
            <a:ext cx="146304" cy="146304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239512"/>
            <a:ext cx="2057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 i="0">
                <a:solidFill>
                  <a:srgbClr val="14233B"/>
                </a:solidFill>
                <a:latin typeface="Noto Sans Mono CJK SC"/>
              </a:rPr>
              <a:t>action-planning-agent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10128" y="5239512"/>
            <a:ext cx="3337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检索知识库，形成 action / rationale</a:t>
            </a:r>
          </a:p>
        </p:txBody>
      </p:sp>
      <p:sp>
        <p:nvSpPr>
          <p:cNvPr id="48" name="Oval 47"/>
          <p:cNvSpPr/>
          <p:nvPr/>
        </p:nvSpPr>
        <p:spPr>
          <a:xfrm>
            <a:off x="896112" y="5504688"/>
            <a:ext cx="146304" cy="146304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5486400"/>
            <a:ext cx="2057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 i="0">
                <a:solidFill>
                  <a:srgbClr val="14233B"/>
                </a:solidFill>
                <a:latin typeface="Noto Sans Mono CJK SC"/>
              </a:rPr>
              <a:t>execution / verification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10128" y="5486400"/>
            <a:ext cx="3337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Skill 下发 MQTT；复核、重试或转人工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60336" y="3950208"/>
            <a:ext cx="4334256" cy="1847088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16368" y="417880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工具接口与协议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6368" y="4517136"/>
            <a:ext cx="3703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5D6B80"/>
                </a:solidFill>
                <a:latin typeface="Noto Sans Mono CJK SC"/>
              </a:rPr>
              <a:t>只读  get_pond_snapshot(pond_id)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8" y="4754880"/>
            <a:ext cx="3703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5D6B80"/>
                </a:solidFill>
                <a:latin typeface="Noto Sans Mono CJK SC"/>
              </a:rPr>
              <a:t>只读  get_weather_context(pond_id)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4992624"/>
            <a:ext cx="3703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5D6B80"/>
                </a:solidFill>
                <a:latin typeface="Noto Sans Mono CJK SC"/>
              </a:rPr>
              <a:t>RAG   search_knowledge_base(query, species, metric)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16368" y="5230368"/>
            <a:ext cx="3703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5D6B80"/>
                </a:solidFill>
                <a:latin typeface="Noto Sans Mono CJK SC"/>
              </a:rPr>
              <a:t>只读  get_device_shadow_state(pond_id)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16368" y="5468112"/>
            <a:ext cx="3703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 i="0">
                <a:solidFill>
                  <a:srgbClr val="14233B"/>
                </a:solidFill>
                <a:latin typeface="Noto Sans Mono CJK SC"/>
              </a:rPr>
              <a:t>写入  DeviceControlSkill → MQTT set_state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" y="6016752"/>
            <a:ext cx="10972800" cy="347472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" y="6108192"/>
            <a:ext cx="10561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0" b="1" i="0">
                <a:solidFill>
                  <a:srgbClr val="FFFFFF"/>
                </a:solidFill>
                <a:latin typeface="Noto Sans CJK SC"/>
              </a:rPr>
              <a:t>协议：传感器 commands → REPORT_NOW；设备 fishagent/ponds/{pond_id}/devices/{device_id}/commands → set_state；证据落地 agent_runs / events / commands / verification_results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09 / 安全与合规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安全边界：让 Agent 能做事，也知道不能做什么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20" b="1" i="0">
                <a:solidFill>
                  <a:srgbClr val="14233B"/>
                </a:solidFill>
                <a:latin typeface="Noto Sans CJK SC"/>
              </a:rPr>
              <a:t>水产养殖涉及生物、设备和现场操作风险。主要风险是误判、隐私泄露和误动作；系统用策略门、人工接管、最小化数据和审计来控制。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模型层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负责理解
规划与解释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不直接写设备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2424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策略门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白名单 / 能力
风险 / 幂等 / 审批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93592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2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Skill 才能执行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3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人工路由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3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无效输出 / 超时
回执失败 / 高风险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3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3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详细任务接管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2286000"/>
            <a:ext cx="2468880" cy="1600200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4856" y="2551176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33B"/>
                </a:solidFill>
                <a:latin typeface="Noto Sans CJK SC"/>
              </a:rPr>
              <a:t>审计层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292608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D6B80"/>
                </a:solidFill>
                <a:latin typeface="Noto Sans CJK SC"/>
              </a:rPr>
              <a:t>证据 / 决策 / 回执
复核 / 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6" y="350215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4856" y="3534156"/>
            <a:ext cx="16002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每一步可追溯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4279392"/>
            <a:ext cx="5321808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535424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33B"/>
                </a:solidFill>
                <a:latin typeface="Noto Sans CJK SC"/>
              </a:rPr>
              <a:t>当前演示数据授权与隐私状态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901184"/>
            <a:ext cx="4709160" cy="5943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"/>
              </a:spcAft>
              <a:defRPr sz="950">
                <a:solidFill>
                  <a:srgbClr val="14233B"/>
                </a:solidFill>
                <a:latin typeface="Noto Sans CJK SC"/>
              </a:defRPr>
            </a:pPr>
            <a:r>
              <a:t>·  传感器、设备、天气、知识库是项目生成的模拟数据</a:t>
            </a:r>
          </a:p>
          <a:p>
            <a:pPr>
              <a:spcAft>
                <a:spcPts val="100"/>
              </a:spcAft>
              <a:defRPr sz="950">
                <a:solidFill>
                  <a:srgbClr val="14233B"/>
                </a:solidFill>
                <a:latin typeface="Noto Sans CJK SC"/>
              </a:defRPr>
            </a:pPr>
            <a:r>
              <a:t>·  摄像头使用项目内模拟图片，不含真实人员或养殖户信息</a:t>
            </a:r>
          </a:p>
          <a:p>
            <a:pPr>
              <a:spcAft>
                <a:spcPts val="100"/>
              </a:spcAft>
              <a:defRPr sz="950">
                <a:solidFill>
                  <a:srgbClr val="14233B"/>
                </a:solidFill>
                <a:latin typeface="Noto Sans CJK SC"/>
              </a:defRPr>
            </a:pPr>
            <a:r>
              <a:t>·  API Key 脱敏展示；公网部署必须开启认证并限制访问来源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4279392"/>
            <a:ext cx="5394960" cy="1353312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4535424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6B5E"/>
                </a:solidFill>
                <a:latin typeface="Noto Sans CJK SC"/>
              </a:rPr>
              <a:t>真实接入前必须完成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484632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14233B"/>
                </a:solidFill>
                <a:latin typeface="Noto Sans CJK SC"/>
              </a:rPr>
              <a:t>养殖场 / 养殖户书面授权、用途最小化、留存与删除策略
第三方模型 / API 清单、数据传输范围、密钥管理
现场负责人和专业人员确认，Agent 不替代最终判断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按手册 9.1—9.4：明确数据来源、授权、第三方依赖、风险提示和行业责任边界。当前 PPT 不把模拟数据包装成真实试点结果。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10 / 开放贡献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可运行、可复现、可复用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评委拿到的不是一张概念图，而是一套可以从零启动、注入事件、观察数据流并复盘结果的工程。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49424"/>
            <a:ext cx="4983480" cy="3072384"/>
          </a:xfrm>
          <a:prstGeom prst="roundRect">
            <a:avLst>
              <a:gd name="adj" fmla="val 12000"/>
            </a:avLst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3744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Noto Sans CJK SC"/>
              </a:rPr>
              <a:t>从零启动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999232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031236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44752" y="2999232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9344" y="3054096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uv sync --extra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383279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15284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3383279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9344" y="3438144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docker compose up -d --build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799332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44752" y="3767328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9344" y="3822191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http://&lt;host&gt;:3000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4151376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183380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44752" y="4151376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9344" y="4206240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POST /api/v1/demo/success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4535424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567428"/>
            <a:ext cx="3840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44752" y="4535424"/>
            <a:ext cx="3566160" cy="283464"/>
          </a:xfrm>
          <a:prstGeom prst="roundRect">
            <a:avLst>
              <a:gd name="adj" fmla="val 12000"/>
            </a:avLst>
          </a:prstGeom>
          <a:solidFill>
            <a:srgbClr val="163D70"/>
          </a:solidFill>
          <a:ln w="10160">
            <a:solidFill>
              <a:srgbClr val="2B6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09344" y="4590288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Noto Sans Mono CJK SC"/>
              </a:rPr>
              <a:t>uv run pytest -q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507492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D13D"/>
                </a:solidFill>
                <a:latin typeface="Noto Sans CJK SC"/>
              </a:rPr>
              <a:t>当前回归：106 passed, 2 skipped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97880" y="2249424"/>
            <a:ext cx="5696712" cy="3072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3056" y="252374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33B"/>
                </a:solidFill>
                <a:latin typeface="Noto Sans CJK SC"/>
              </a:rPr>
              <a:t>可以复用的开放组件</a:t>
            </a:r>
          </a:p>
        </p:txBody>
      </p:sp>
      <p:sp>
        <p:nvSpPr>
          <p:cNvPr id="32" name="Oval 31"/>
          <p:cNvSpPr/>
          <p:nvPr/>
        </p:nvSpPr>
        <p:spPr>
          <a:xfrm>
            <a:off x="6181344" y="3017520"/>
            <a:ext cx="228600" cy="228600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29992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Agent 运行时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3568" y="29992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CrewAI Supervisor + 专职 Agent</a:t>
            </a:r>
          </a:p>
        </p:txBody>
      </p:sp>
      <p:sp>
        <p:nvSpPr>
          <p:cNvPr id="35" name="Oval 34"/>
          <p:cNvSpPr/>
          <p:nvPr/>
        </p:nvSpPr>
        <p:spPr>
          <a:xfrm>
            <a:off x="6181344" y="3438144"/>
            <a:ext cx="228600" cy="22860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65392" y="341985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设备 Skill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73568" y="341985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确定性 DeviceControlSkill + MQTT</a:t>
            </a:r>
          </a:p>
        </p:txBody>
      </p:sp>
      <p:sp>
        <p:nvSpPr>
          <p:cNvPr id="38" name="Oval 37"/>
          <p:cNvSpPr/>
          <p:nvPr/>
        </p:nvSpPr>
        <p:spPr>
          <a:xfrm>
            <a:off x="6181344" y="3858768"/>
            <a:ext cx="228600" cy="22860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65392" y="3840480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数据规格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568" y="384048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模拟传感器 / 摄像头 / 天气 / 知识库</a:t>
            </a:r>
          </a:p>
        </p:txBody>
      </p:sp>
      <p:sp>
        <p:nvSpPr>
          <p:cNvPr id="41" name="Oval 40"/>
          <p:cNvSpPr/>
          <p:nvPr/>
        </p:nvSpPr>
        <p:spPr>
          <a:xfrm>
            <a:off x="6181344" y="4279392"/>
            <a:ext cx="228600" cy="22860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426110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交付模板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4261104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日报 HTML、审计、人工任务、运行轨迹</a:t>
            </a:r>
          </a:p>
        </p:txBody>
      </p:sp>
      <p:sp>
        <p:nvSpPr>
          <p:cNvPr id="44" name="Oval 43"/>
          <p:cNvSpPr/>
          <p:nvPr/>
        </p:nvSpPr>
        <p:spPr>
          <a:xfrm>
            <a:off x="6181344" y="4700016"/>
            <a:ext cx="228600" cy="228600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65392" y="46817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14233B"/>
                </a:solidFill>
                <a:latin typeface="Noto Sans CJK SC"/>
              </a:rPr>
              <a:t>部署材料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73568" y="4681728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5D6B80"/>
                </a:solidFill>
                <a:latin typeface="Noto Sans CJK SC"/>
              </a:rPr>
              <a:t>uv / Docker Compose / README / 测试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1344" y="5065776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B66C3"/>
                </a:solidFill>
                <a:latin typeface="Noto Sans CJK SC"/>
              </a:rPr>
              <a:t>GitHub：github.com/simonliu009/fishagent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复赛 / 决赛需按组委会要求补充最终仓库、部署说明、许可证和第三方依赖清单。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11 / 现场演示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给评委的 3 分钟现场 Demo 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从正常态开始，注入一个可重复的低溶氧事件；每一步都能在页面、Agent 轨迹或审计中找到证据。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28600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0088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00:00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5064" y="245973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正常态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4 个池塘均有最新读数
设备在线比例可见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8600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36007" y="246888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250088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00:20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45973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注入低溶氧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5292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点击 Demo：B-01 DO 降至 2.8
页面中间出现注入反馈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228600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49056" y="246888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6" y="250088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00:45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245973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触发逐塘巡检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285292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正在触发逐塘巡检…
主动请求 MQTT REPORT_NOW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370332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F0EDFF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38862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1820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01:20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55064" y="387705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Agent 决策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27024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流式显示输入、回复、action
EXECUTE → Skill 校验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370332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EAF9F3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36007" y="38862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36007" y="391820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01:50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387705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设备与告警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427024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发布 MQTT 控制
告警流程逐步显示执行结果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47888" y="3703320"/>
            <a:ext cx="3401568" cy="1097280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49056" y="3886200"/>
            <a:ext cx="658368" cy="292608"/>
          </a:xfrm>
          <a:prstGeom prst="roundRect">
            <a:avLst>
              <a:gd name="adj" fmla="val 12000"/>
            </a:avLst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9056" y="3918204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02:30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59" y="3877056"/>
            <a:ext cx="20116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33B"/>
                </a:solidFill>
                <a:latin typeface="Noto Sans CJK SC"/>
              </a:rPr>
              <a:t>复核与交付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4270248"/>
            <a:ext cx="29260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D6B80"/>
                </a:solidFill>
                <a:latin typeface="Noto Sans CJK SC"/>
              </a:rPr>
              <a:t>下一次巡塘更新复核
生成日报 / 聊天查询状态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" y="5376672"/>
            <a:ext cx="704088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5595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33B"/>
                </a:solidFill>
                <a:latin typeface="Noto Sans CJK SC"/>
              </a:rPr>
              <a:t>现场入口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555955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B66C3"/>
                </a:solidFill>
                <a:latin typeface="Noto Sans Mono CJK SC"/>
              </a:rPr>
              <a:t>http://&lt;评审可访问主机&gt;:3000   ·   账号 / 密码 / 录屏地址：待补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5376672"/>
            <a:ext cx="3685032" cy="621792"/>
          </a:xfrm>
          <a:prstGeom prst="roundRect">
            <a:avLst>
              <a:gd name="adj" fmla="val 12000"/>
            </a:avLst>
          </a:prstGeom>
          <a:solidFill>
            <a:srgbClr val="FFF0ED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56448" y="555955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6B5E"/>
                </a:solidFill>
                <a:latin typeface="Noto Sans CJK SC"/>
              </a:rPr>
              <a:t>失败分支也要演示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555955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4233B"/>
                </a:solidFill>
                <a:latin typeface="Noto Sans CJK SC"/>
              </a:rPr>
              <a:t>设备失败 → 人工任务 + 原因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562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演示入口与账号属于最终交付信息，当前保留占位符，避免把本地环境地址误当成比赛访问地址。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B66C3"/>
                </a:solidFill>
                <a:latin typeface="Noto Sans CJK SC"/>
              </a:rPr>
              <a:t>GOAI  /  BOUNDLESS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255E8"/>
                </a:solidFill>
                <a:latin typeface="Noto Sans CJK SC"/>
              </a:rPr>
              <a:t>12 / 评审对照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233B"/>
                </a:solidFill>
                <a:latin typeface="Noto Sans CJK SC"/>
              </a:rPr>
              <a:t>用证据回答评委的评分表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5D6B80"/>
                </a:solidFill>
                <a:latin typeface="Noto Sans CJK SC"/>
              </a:rPr>
              <a:t>智渔Agent 2.0  /  GOAI Boundless Agents                            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33B"/>
                </a:solidFill>
                <a:latin typeface="Noto Sans CJK SC"/>
              </a:rPr>
              <a:t>每个评分维度对应一个可点击、可运行或可复盘的证据，不用技术名词堆叠替代结果。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240280"/>
            <a:ext cx="1417320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350008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评审维度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2267712" y="2240280"/>
            <a:ext cx="2999232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40864" y="2350008"/>
            <a:ext cx="285292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我们展示什么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2240280"/>
            <a:ext cx="2697480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350008"/>
            <a:ext cx="2551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当前工程证据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30768" y="2240280"/>
            <a:ext cx="3163824" cy="384048"/>
          </a:xfrm>
          <a:prstGeom prst="rect">
            <a:avLst/>
          </a:prstGeom>
          <a:solidFill>
            <a:srgbClr val="0B2A56"/>
          </a:solidFill>
          <a:ln w="10160">
            <a:solidFill>
              <a:srgbClr val="0B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350008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Noto Sans CJK SC"/>
              </a:rPr>
              <a:t>封版前补齐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2624328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724912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行业场景价值 25%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2624328"/>
            <a:ext cx="2999232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9152" y="2724912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低溶氧处置、设备离线、人工接管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624328"/>
            <a:ext cx="269748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724912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四池塘 / 28 设备 / 7 指标；health Demo 可复现 27/28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2624328"/>
            <a:ext cx="3163824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2724912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真实试点收益数据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3182112"/>
            <a:ext cx="141732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282696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Agent 闭环 25%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67712" y="3182112"/>
            <a:ext cx="2999232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59152" y="3282696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理解 → 规划 → 工具 → 执行 → 复核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3182112"/>
            <a:ext cx="269748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3282696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CrewAI + Skill + MQTT + verification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30768" y="3182112"/>
            <a:ext cx="3163824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3282696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现场操作确认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" y="3739896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3840480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产品体验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67712" y="3739896"/>
            <a:ext cx="2999232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9152" y="3840480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告警、聊天、轨迹、报告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3739896"/>
            <a:ext cx="269748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3840480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页面截图 + API + 106 条回归测试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30768" y="3739896"/>
            <a:ext cx="3163824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8" y="3840480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Demo 录屏链接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" y="4297680"/>
            <a:ext cx="141732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4398264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技术深度 15%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7712" y="4297680"/>
            <a:ext cx="2999232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59152" y="4398264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多模态、RAG、调度、持久化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297680"/>
            <a:ext cx="269748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77840" y="4398264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Docker / Postgres / Redis / MinIO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30768" y="4297680"/>
            <a:ext cx="3163824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22208" y="4398264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性能与模型成本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4855464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4956048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安全合规 10%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67712" y="4855464"/>
            <a:ext cx="2999232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59152" y="4956048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风险分级、策略门、人工任务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4855464"/>
            <a:ext cx="269748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77840" y="4956048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模拟数据 / 审计 / 失败分流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30768" y="4855464"/>
            <a:ext cx="3163824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22208" y="4956048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授权与依赖清单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" y="5413248"/>
            <a:ext cx="141732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" y="5513832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14233B"/>
                </a:solidFill>
                <a:latin typeface="Noto Sans CJK SC"/>
              </a:rPr>
              <a:t>开放复用 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67712" y="5413248"/>
            <a:ext cx="2999232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59152" y="5513832"/>
            <a:ext cx="281635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组件、规格、文档、部署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5413248"/>
            <a:ext cx="2697480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77840" y="5513832"/>
            <a:ext cx="2514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5D6B80"/>
                </a:solidFill>
                <a:latin typeface="Noto Sans CJK SC"/>
              </a:rPr>
              <a:t>GitHub + README + 测试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30768" y="5413248"/>
            <a:ext cx="3163824" cy="557784"/>
          </a:xfrm>
          <a:prstGeom prst="rect">
            <a:avLst/>
          </a:prstGeom>
          <a:solidFill>
            <a:srgbClr val="EEF3F9"/>
          </a:solidFill>
          <a:ln w="10160">
            <a:solidFill>
              <a:srgbClr val="D7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22208" y="5513832"/>
            <a:ext cx="29809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6B5E"/>
                </a:solidFill>
                <a:latin typeface="Noto Sans CJK SC"/>
              </a:rPr>
              <a:t>□ License / 贡献指南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" y="6080760"/>
            <a:ext cx="10972800" cy="310896"/>
          </a:xfrm>
          <a:prstGeom prst="roundRect">
            <a:avLst>
              <a:gd name="adj" fmla="val 12000"/>
            </a:avLst>
          </a:prstGeom>
          <a:solidFill>
            <a:srgbClr val="FFF8DF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1248" y="6163056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33B"/>
                </a:solidFill>
                <a:latin typeface="Noto Sans CJK SC"/>
              </a:rPr>
              <a:t>红线意识：PPT 只能说明方案，Demo、日志、视频和可复现工程才是最终验证。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57032" y="758952"/>
            <a:ext cx="64008" cy="64008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60459" y="1036929"/>
            <a:ext cx="137160" cy="137160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72369" y="515721"/>
            <a:ext cx="73152" cy="73152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58830" y="967435"/>
            <a:ext cx="182880" cy="182880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65515" y="1870862"/>
            <a:ext cx="182880" cy="18288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77425" y="1801368"/>
            <a:ext cx="100584" cy="10058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50347" y="1731873"/>
            <a:ext cx="128016" cy="128016"/>
          </a:xfrm>
          <a:prstGeom prst="ellipse">
            <a:avLst/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67313" y="2287828"/>
            <a:ext cx="73152" cy="73152"/>
          </a:xfrm>
          <a:prstGeom prst="ellipse">
            <a:avLst/>
          </a:prstGeom>
          <a:solidFill>
            <a:srgbClr val="41D19A"/>
          </a:solidFill>
          <a:ln w="10160">
            <a:solidFill>
              <a:srgbClr val="41D1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82481" y="2774289"/>
            <a:ext cx="82296" cy="82296"/>
          </a:xfrm>
          <a:prstGeom prst="ellipse">
            <a:avLst/>
          </a:prstGeom>
          <a:solidFill>
            <a:srgbClr val="FFD13D"/>
          </a:solidFill>
          <a:ln w="10160">
            <a:solidFill>
              <a:srgbClr val="FFD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20656" y="2913278"/>
            <a:ext cx="201168" cy="201168"/>
          </a:xfrm>
          <a:prstGeom prst="ellipse">
            <a:avLst/>
          </a:prstGeom>
          <a:solidFill>
            <a:srgbClr val="FF6B5E"/>
          </a:solidFill>
          <a:ln w="10160"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19841" y="2982772"/>
            <a:ext cx="91440" cy="91440"/>
          </a:xfrm>
          <a:prstGeom prst="ellipse">
            <a:avLst/>
          </a:prstGeom>
          <a:solidFill>
            <a:srgbClr val="7255E8"/>
          </a:solidFill>
          <a:ln w="10160">
            <a:solidFill>
              <a:srgbClr val="725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26526" y="3469233"/>
            <a:ext cx="146304" cy="146304"/>
          </a:xfrm>
          <a:prstGeom prst="ellipse">
            <a:avLst/>
          </a:prstGeom>
          <a:solidFill>
            <a:srgbClr val="0B66C3"/>
          </a:solidFill>
          <a:ln w="1016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a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84048"/>
            <a:ext cx="1207008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658368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13D"/>
                </a:solidFill>
                <a:latin typeface="Noto Sans CJK SC"/>
              </a:rPr>
              <a:t>封版前，只补齐四件事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207008"/>
            <a:ext cx="649224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Noto Sans CJK SC"/>
              </a:rPr>
              <a:t>让一个可运行 Demo
变成评委记得住的作品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43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9536" y="2999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031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2926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团队与作者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200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团队名称、成员、分工、联系方式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6007" y="2743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37175" y="2999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7175" y="3031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8968" y="2926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真实价值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3200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试点对象、收益指标、失败案例与边界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3886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9536" y="4142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4174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069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现场证据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1328" y="4343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Demo 视频、访问地址、演示账号、运行记录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36007" y="38862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143A6B"/>
          </a:solidFill>
          <a:ln w="10160">
            <a:solidFill>
              <a:srgbClr val="2C62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37175" y="4142232"/>
            <a:ext cx="438912" cy="292608"/>
          </a:xfrm>
          <a:prstGeom prst="roundRect">
            <a:avLst>
              <a:gd name="adj" fmla="val 12000"/>
            </a:avLst>
          </a:prstGeom>
          <a:solidFill>
            <a:srgbClr val="26C6E6"/>
          </a:solidFill>
          <a:ln w="10160">
            <a:solidFill>
              <a:srgbClr val="26C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5" y="4174236"/>
            <a:ext cx="4389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B2A56"/>
                </a:solidFill>
                <a:latin typeface="Noto Sans CJK SC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58968" y="40690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CJK SC"/>
              </a:rPr>
              <a:t>合规与开放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43434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B8CAE0"/>
                </a:solidFill>
                <a:latin typeface="Noto Sans CJK SC"/>
              </a:rPr>
              <a:t>授权、License、第三方依赖与数据说明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9612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6C6E6"/>
                </a:solidFill>
                <a:latin typeface="Noto Sans CJK SC"/>
              </a:rPr>
              <a:t>智渔Agent 2.0 = 养殖场的感知、决策、执行、复核协同层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0533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Noto Sans CJK SC"/>
              </a:rPr>
              <a:t>谢谢 / Q&amp;A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537960"/>
            <a:ext cx="7680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B8CAE0"/>
                </a:solidFill>
                <a:latin typeface="Noto Sans CJK SC"/>
              </a:rPr>
              <a:t>参赛材料依据：GOAI 无界应用｜Boundless Agents 参赛手册；官网：goaihz.com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